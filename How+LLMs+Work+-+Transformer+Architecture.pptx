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67" r:id="rId3"/>
    <p:sldId id="268" r:id="rId4"/>
    <p:sldId id="273" r:id="rId5"/>
    <p:sldId id="257" r:id="rId6"/>
    <p:sldId id="266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5385D-9F44-4250-9CAA-DD2A1C8B1BD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27A59-68E4-4300-85B1-D0EEF9FB64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10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066AC-A0C6-461F-898E-DC0B365DC7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00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451B-3605-989C-57C9-EED1609AC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7FB9FC-3A73-93ED-7C27-6BBC393A9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76762-B405-B118-9780-7AC6291B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5463D-A997-88A7-2DB1-DAB61012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51D51-C32F-6875-06A8-D313153C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73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4B80-40E4-2D8B-C186-1DB28460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788D3-4EAF-2835-C57C-D021B260C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F7372-6F01-A146-4037-940FD0A17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A1009-3136-2218-B4EE-73437D3B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E41B-AB4B-B742-86D3-323D6E03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133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19628-44A9-2C62-9FD2-D76182BD3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F8AEF-C956-A8DE-3E55-7280995DC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340FE-6E65-9E7D-C042-0536618A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2B1CD-A377-C984-7AA3-A830D387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ED5FC-20BE-EA44-8E51-95750F06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40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0C6D1-10C8-1AA1-D0E4-42116A1E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04128-5D08-76F4-9053-BD8946253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2A546-AAC0-5CCA-7EE0-FCE7B62B9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E1684-77F5-2567-9C33-5DD1586C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83BF6-39CB-7759-3288-E0CB76A5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957D8-B6E1-F975-2AED-A3AF17B0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00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BD72-19C1-C2CE-4D5C-A9AF17419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20CF3-C904-10E2-EB9D-6AA132A47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8C473-74DE-64C9-C7D2-7CDBF5BBD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304D5-CC1A-1569-2D47-A264D9606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55B0D-F27E-6C4C-2E4B-4743B41AF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C65D2-123E-B5A3-506B-72580C68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DC12BD-3AA2-551F-A887-46C9F597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8AB7FE-3078-C131-D071-37B8041C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31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7B43-39D2-2236-DC0F-701E698FB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F1CCF-2972-F4F6-F8FF-56A913DE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0747A-AF20-1045-9071-3ABC92F4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A8144-EF5A-BD1A-245F-731EF870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8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9AB4F-4B4B-5947-1D85-244716BF4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616835-595F-3557-E4B9-6F61C5ED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A4B35-A2A9-EA58-2D0A-6CE7B351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64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FCEF-223E-31B9-1BF4-F7D9DDD3E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4C446-A260-796A-EB47-BD3CC7D24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55996-0B75-3319-7E75-1D494D2A0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AECA4-717A-F2AE-CFD7-DBCA8E2C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79E41-DE28-4117-E8DB-C8F32D19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CD6C3-F35B-BEB5-B4E4-E6F45F90B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858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9E61-EAB5-2506-CBB1-59B76885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8A03E-3DD5-8158-6DF8-F9A7C29FE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CCA3E-6C8A-0659-599C-2E729B907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F1696-AF67-844A-2A7F-26889041F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5D419-F18A-D593-1BB2-439EB7651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6D715-0D59-6E7E-034E-49B0F2257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25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3704-86AA-7C5E-A82B-034D8081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BC101-EC42-CDF2-3BC8-EA2C1461C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A8791-42D2-DB5C-8186-4C56CD011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D3F5-7E89-566D-44CF-ACEA1FA2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1E811-55D1-D855-9C38-9BD06EDC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08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DE17ED-616C-0DAD-14B5-670587A3E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BFE04-2CF3-5358-55F7-9EDDD5DAD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C1B0C-6FED-5A8A-D691-E468A057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4E29B-665F-5E9C-0769-2D4E5F04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71361-14C3-FF72-4D35-9B3615F3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828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8538E8-7227-CB71-95F6-7E5163CB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85590-95D5-D9C7-9137-98B9A0592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44337-3614-D70E-B041-53ABCA2E9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C0BF3-E143-4AF1-8DC2-B0CD784A44C1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13E65-E978-3FEA-97FA-E256B244AF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A0DAF-571D-FD0C-E6A9-70784517D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576AA-9C3D-46D2-8BB9-C7E99AA0D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24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2387600"/>
          </a:xfrm>
        </p:spPr>
        <p:txBody>
          <a:bodyPr/>
          <a:lstStyle/>
          <a:p>
            <a:r>
              <a:rPr lang="en-US" dirty="0"/>
              <a:t>How LLMs Work?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8" y="631414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D74E-5C61-8A6D-616D-B9E9CB0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351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Some Quick Bullet Points</a:t>
            </a:r>
            <a:endParaRPr lang="en-IN" dirty="0"/>
          </a:p>
        </p:txBody>
      </p:sp>
      <p:pic>
        <p:nvPicPr>
          <p:cNvPr id="4" name="Picture 2" descr="Diagram showing the different generations of LLMs associated with the number of parameters each model has.">
            <a:extLst>
              <a:ext uri="{FF2B5EF4-FFF2-40B4-BE49-F238E27FC236}">
                <a16:creationId xmlns:a16="http://schemas.microsoft.com/office/drawing/2014/main" id="{385908AB-7DC9-D879-138B-A9B796D863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976" y="2051453"/>
            <a:ext cx="6078536" cy="347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E5CD07-99DB-50E2-8F51-1C293E0E9291}"/>
              </a:ext>
            </a:extLst>
          </p:cNvPr>
          <p:cNvSpPr txBox="1"/>
          <p:nvPr/>
        </p:nvSpPr>
        <p:spPr>
          <a:xfrm>
            <a:off x="210312" y="1666884"/>
            <a:ext cx="53788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LLMs are trained using </a:t>
            </a:r>
            <a:r>
              <a:rPr lang="en-US" b="1" dirty="0"/>
              <a:t>neural networks </a:t>
            </a:r>
            <a:r>
              <a:rPr lang="en-US" dirty="0"/>
              <a:t>which relates to </a:t>
            </a:r>
            <a:r>
              <a:rPr lang="en-US" b="1" dirty="0"/>
              <a:t>Deep Learning</a:t>
            </a:r>
            <a:r>
              <a:rPr lang="en-US" dirty="0"/>
              <a:t>; This means they have a strong tendency to </a:t>
            </a:r>
            <a:r>
              <a:rPr lang="en-US" b="1" dirty="0"/>
              <a:t>think exactly like humans do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LLMs are </a:t>
            </a:r>
            <a:r>
              <a:rPr lang="en-US" b="1" dirty="0"/>
              <a:t>probabilistic machines </a:t>
            </a:r>
            <a:r>
              <a:rPr lang="en-US" dirty="0"/>
              <a:t>that predict the </a:t>
            </a:r>
            <a:r>
              <a:rPr lang="en-US" b="1" dirty="0"/>
              <a:t>next set of tokens or characters </a:t>
            </a:r>
            <a:r>
              <a:rPr lang="en-US" dirty="0"/>
              <a:t>with varying probabilities. They are </a:t>
            </a:r>
            <a:r>
              <a:rPr lang="en-US" b="1" dirty="0"/>
              <a:t>non-deterministic </a:t>
            </a:r>
            <a:r>
              <a:rPr lang="en-US" dirty="0"/>
              <a:t>in nature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b="1" dirty="0"/>
              <a:t>Foundational LLMs </a:t>
            </a:r>
            <a:r>
              <a:rPr lang="en-US" dirty="0"/>
              <a:t>like those from OpenAI, Anthropic, Microsoft, Google etc. are </a:t>
            </a:r>
            <a:r>
              <a:rPr lang="en-US" b="1" dirty="0"/>
              <a:t>exceptionally humongous </a:t>
            </a:r>
            <a:r>
              <a:rPr lang="en-US" dirty="0"/>
              <a:t>and have </a:t>
            </a:r>
            <a:r>
              <a:rPr lang="en-US" b="1" dirty="0"/>
              <a:t>billions of parameters </a:t>
            </a:r>
            <a:r>
              <a:rPr lang="en-US" dirty="0"/>
              <a:t>that can be tuned differently to give </a:t>
            </a:r>
            <a:r>
              <a:rPr lang="en-US" b="1" dirty="0"/>
              <a:t>varied outputs</a:t>
            </a:r>
            <a:r>
              <a:rPr lang="en-US" dirty="0"/>
              <a:t>. These parametric values are typically learned during the </a:t>
            </a:r>
            <a:r>
              <a:rPr lang="en-US" b="1" dirty="0"/>
              <a:t>training phase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425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9F57-3D5B-8FAF-C27F-61B9F5C7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“Transformer” Model</a:t>
            </a:r>
            <a:endParaRPr lang="en-IN" dirty="0"/>
          </a:p>
        </p:txBody>
      </p:sp>
      <p:pic>
        <p:nvPicPr>
          <p:cNvPr id="4" name="Content Placeholder 3" descr="Diagram of the Transformer architecture with the encoding and decoding layers.">
            <a:extLst>
              <a:ext uri="{FF2B5EF4-FFF2-40B4-BE49-F238E27FC236}">
                <a16:creationId xmlns:a16="http://schemas.microsoft.com/office/drawing/2014/main" id="{E389629A-967E-0B86-82E1-C587C7752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8500" y="1227979"/>
            <a:ext cx="4814999" cy="523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4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96BB-9776-4565-5571-6198AF08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Data, Data and lots of Data…….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024583-66D4-A44D-C393-D7842BCB2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4745" y="1528374"/>
            <a:ext cx="7623343" cy="4289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CEB6C2-01CC-39C8-5FE4-A2880AC27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8088" y="5539159"/>
            <a:ext cx="2343912" cy="13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3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E7A9B-EC13-2D06-4A8B-73625762C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1 - Tokenization</a:t>
            </a:r>
            <a:endParaRPr lang="en-IN" dirty="0"/>
          </a:p>
        </p:txBody>
      </p:sp>
      <p:pic>
        <p:nvPicPr>
          <p:cNvPr id="1026" name="Picture 2" descr="Demystifying Tokens: A Beginners Guide To Understanding AI Building Blocks  | by The Ministry of AI | 𝐀𝐈 𝐦𝐨𝐧𝐤𝐬.𝐢𝐨 | Medium">
            <a:extLst>
              <a:ext uri="{FF2B5EF4-FFF2-40B4-BE49-F238E27FC236}">
                <a16:creationId xmlns:a16="http://schemas.microsoft.com/office/drawing/2014/main" id="{2CE6E590-3EC0-6A96-D81D-F85B4E33FF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57" y="1357862"/>
            <a:ext cx="5769429" cy="228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C3D22C-44C8-F343-74DE-AE379BE8AE2C}"/>
              </a:ext>
            </a:extLst>
          </p:cNvPr>
          <p:cNvSpPr txBox="1"/>
          <p:nvPr/>
        </p:nvSpPr>
        <p:spPr>
          <a:xfrm>
            <a:off x="217714" y="2244093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Tokens – How Models Process Text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Models </a:t>
            </a:r>
            <a:r>
              <a:rPr lang="en-US" sz="1600" b="1" dirty="0"/>
              <a:t>don’t read text directly</a:t>
            </a:r>
            <a:r>
              <a:rPr lang="en-US" sz="1600" dirty="0"/>
              <a:t> — they process </a:t>
            </a:r>
            <a:r>
              <a:rPr lang="en-US" sz="1600" b="1" dirty="0"/>
              <a:t>tokens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token</a:t>
            </a:r>
            <a:r>
              <a:rPr lang="en-US" sz="1600" dirty="0"/>
              <a:t> is a chunk of text (character, sub-word, or whole word)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Same text can have </a:t>
            </a:r>
            <a:r>
              <a:rPr lang="en-US" sz="1600" b="1" dirty="0"/>
              <a:t>different token counts</a:t>
            </a:r>
            <a:r>
              <a:rPr lang="en-US" sz="1600" dirty="0"/>
              <a:t> than character counts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Tokens are the </a:t>
            </a:r>
            <a:r>
              <a:rPr lang="en-US" sz="1600" b="1" dirty="0"/>
              <a:t>unit for input, output, cost, and limits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Long prompts = </a:t>
            </a:r>
            <a:r>
              <a:rPr lang="en-US" sz="1600" b="1" dirty="0"/>
              <a:t>more tokens = higher cost &amp; latency</a:t>
            </a:r>
            <a:endParaRPr lang="en-US" sz="1600" dirty="0"/>
          </a:p>
        </p:txBody>
      </p:sp>
      <p:pic>
        <p:nvPicPr>
          <p:cNvPr id="1028" name="Picture 4" descr="The Mystery of Tokens in GenAI. Have you ever heard of tokens in the… | by  Nitin Jain | Medium">
            <a:extLst>
              <a:ext uri="{FF2B5EF4-FFF2-40B4-BE49-F238E27FC236}">
                <a16:creationId xmlns:a16="http://schemas.microsoft.com/office/drawing/2014/main" id="{741B20ED-78E4-8770-D894-3C36CB6C5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21473"/>
            <a:ext cx="5769429" cy="212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793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E3BC9-B173-DE8D-9151-CCDECD4A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2 – Generating Vector Embeddings</a:t>
            </a:r>
            <a:endParaRPr lang="en-IN" dirty="0"/>
          </a:p>
        </p:txBody>
      </p:sp>
      <p:pic>
        <p:nvPicPr>
          <p:cNvPr id="4" name="Content Placeholder 3" descr="Screenshot of vector examples in Azure Cosmos DB.">
            <a:extLst>
              <a:ext uri="{FF2B5EF4-FFF2-40B4-BE49-F238E27FC236}">
                <a16:creationId xmlns:a16="http://schemas.microsoft.com/office/drawing/2014/main" id="{4C2984D6-7EE2-83E9-5EB0-47DC28009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992" y="1325563"/>
            <a:ext cx="6119905" cy="2631492"/>
          </a:xfrm>
          <a:prstGeom prst="rect">
            <a:avLst/>
          </a:prstGeom>
        </p:spPr>
      </p:pic>
      <p:pic>
        <p:nvPicPr>
          <p:cNvPr id="5" name="Picture 4" descr="Screenshot of vector closeness in Azure Cosmos DB.">
            <a:extLst>
              <a:ext uri="{FF2B5EF4-FFF2-40B4-BE49-F238E27FC236}">
                <a16:creationId xmlns:a16="http://schemas.microsoft.com/office/drawing/2014/main" id="{E18C2F24-28D9-72F8-035B-26C71DA96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3700223"/>
            <a:ext cx="4824984" cy="30156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20803-F71A-F0E3-DFB6-E194C917940A}"/>
              </a:ext>
            </a:extLst>
          </p:cNvPr>
          <p:cNvSpPr txBox="1"/>
          <p:nvPr/>
        </p:nvSpPr>
        <p:spPr>
          <a:xfrm>
            <a:off x="7796784" y="2030521"/>
            <a:ext cx="4078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Vector Embeddings are numerical representations of words and phrases in a high dimensional space</a:t>
            </a:r>
            <a:endParaRPr lang="en-IN" sz="1600" b="1" i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4849E18-6944-97D4-6CFB-490DF6F26C03}"/>
              </a:ext>
            </a:extLst>
          </p:cNvPr>
          <p:cNvSpPr/>
          <p:nvPr/>
        </p:nvSpPr>
        <p:spPr>
          <a:xfrm>
            <a:off x="6638544" y="2185416"/>
            <a:ext cx="1158240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C043B-2AB8-B43F-21B1-29BC64C74AC4}"/>
              </a:ext>
            </a:extLst>
          </p:cNvPr>
          <p:cNvSpPr txBox="1"/>
          <p:nvPr/>
        </p:nvSpPr>
        <p:spPr>
          <a:xfrm>
            <a:off x="316992" y="5116938"/>
            <a:ext cx="5346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You can arrange words and phrases in a high dimensional space with their vector embeddings. Semantically similar words are placed closer together </a:t>
            </a:r>
            <a:endParaRPr lang="en-IN" sz="1600" b="1" i="1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F43584A-65B5-09D7-53C2-D2A2A8824ED4}"/>
              </a:ext>
            </a:extLst>
          </p:cNvPr>
          <p:cNvSpPr/>
          <p:nvPr/>
        </p:nvSpPr>
        <p:spPr>
          <a:xfrm rot="10800000">
            <a:off x="5697191" y="5208030"/>
            <a:ext cx="1158240" cy="521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11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64AEE-D366-099E-F688-8036527B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779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Initial Vectors and Positional Encoding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425E1-713C-6DFB-00AD-57BB7E43A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21631" y="1081736"/>
            <a:ext cx="7148738" cy="44204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9340A7-C08B-2E98-36AF-AE92979D7A72}"/>
              </a:ext>
            </a:extLst>
          </p:cNvPr>
          <p:cNvSpPr txBox="1"/>
          <p:nvPr/>
        </p:nvSpPr>
        <p:spPr>
          <a:xfrm>
            <a:off x="116109" y="5712256"/>
            <a:ext cx="119597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/>
              <a:t>Initially, the token vector values are assigned randomly, before being fed through the transformer to create embedding vectors. </a:t>
            </a:r>
          </a:p>
          <a:p>
            <a:pPr algn="ctr"/>
            <a:endParaRPr lang="en-US" sz="1600" b="1" i="1" dirty="0"/>
          </a:p>
          <a:p>
            <a:pPr algn="ctr"/>
            <a:r>
              <a:rPr lang="en-US" sz="1600" b="1" i="1" dirty="0"/>
              <a:t>For now, the vector embeddings only denote the position of where the token appears in the sequence of training text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3757822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2018-F316-17C3-5893-84C875C8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0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3 – Tuning “Vector Embeddings”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383030-9D4A-38D1-D49A-0537DD445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114" y="1239001"/>
            <a:ext cx="7625109" cy="4287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E57469-B360-0B56-C67C-9B03E7FA3A17}"/>
              </a:ext>
            </a:extLst>
          </p:cNvPr>
          <p:cNvSpPr txBox="1"/>
          <p:nvPr/>
        </p:nvSpPr>
        <p:spPr>
          <a:xfrm>
            <a:off x="1358377" y="5734032"/>
            <a:ext cx="9244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/>
              <a:t>Now the transformer model uses the “attention” mechanism to tune and change the vector embeddings in such a way that they now denote not only the positional encodings but also the semantic relationships and similarity between words and tokens</a:t>
            </a:r>
            <a:endParaRPr lang="en-IN" sz="1600" b="1" i="1" dirty="0"/>
          </a:p>
        </p:txBody>
      </p:sp>
    </p:spTree>
    <p:extLst>
      <p:ext uri="{BB962C8B-B14F-4D97-AF65-F5344CB8AC3E}">
        <p14:creationId xmlns:p14="http://schemas.microsoft.com/office/powerpoint/2010/main" val="236148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A0AC3-8059-E1D6-5DC7-F398E8BC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280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So now, we finally have…….</a:t>
            </a:r>
            <a:endParaRPr lang="en-IN" dirty="0"/>
          </a:p>
        </p:txBody>
      </p:sp>
      <p:pic>
        <p:nvPicPr>
          <p:cNvPr id="4" name="Content Placeholder 3" descr="Diagram of embedding vectors for tokens in three-dimensions.">
            <a:extLst>
              <a:ext uri="{FF2B5EF4-FFF2-40B4-BE49-F238E27FC236}">
                <a16:creationId xmlns:a16="http://schemas.microsoft.com/office/drawing/2014/main" id="{B2A90302-6CD8-CD95-9463-395B1E4AB2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2668" y="1042066"/>
            <a:ext cx="6426661" cy="557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52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F104-3BEE-6F08-534B-4CA21AA5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Step 4 – Predicting Tokens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3F1E73-E542-5AAB-51C2-FE4BC2A07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648" y="1182609"/>
            <a:ext cx="7807000" cy="52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6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331</Words>
  <Application>Microsoft Office PowerPoint</Application>
  <PresentationFormat>Widescreen</PresentationFormat>
  <Paragraphs>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How LLMs Work?</vt:lpstr>
      <vt:lpstr>Some Quick Bullet Points</vt:lpstr>
      <vt:lpstr>The “Transformer” Model</vt:lpstr>
      <vt:lpstr>Data, Data and lots of Data…….</vt:lpstr>
      <vt:lpstr>Step 1 - Tokenization</vt:lpstr>
      <vt:lpstr>Step 2 – Generating Vector Embeddings</vt:lpstr>
      <vt:lpstr>Initial Vectors and Positional Encoding</vt:lpstr>
      <vt:lpstr>Step 3 – Tuning “Vector Embeddings”</vt:lpstr>
      <vt:lpstr>So now, we finally have…….</vt:lpstr>
      <vt:lpstr>Step 4 – Predicting Tokens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2026-05-07T03:56:51Z</dcterms:created>
  <dcterms:modified xsi:type="dcterms:W3CDTF">2026-05-07T05:37:00Z</dcterms:modified>
</cp:coreProperties>
</file>