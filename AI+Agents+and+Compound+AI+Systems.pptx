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9"/>
  </p:notesMasterIdLst>
  <p:sldIdLst>
    <p:sldId id="414" r:id="rId2"/>
    <p:sldId id="262" r:id="rId3"/>
    <p:sldId id="261" r:id="rId4"/>
    <p:sldId id="257" r:id="rId5"/>
    <p:sldId id="258" r:id="rId6"/>
    <p:sldId id="259" r:id="rId7"/>
    <p:sldId id="41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FBFFAE-C039-4C31-B0CF-D69BABED7022}" v="1" dt="2026-05-08T06:28:50.1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ljot bakshi" userId="e18f591f5991c12c" providerId="LiveId" clId="{848BE52E-FEF7-44CF-B8AB-7264220E5FAA}"/>
    <pc:docChg chg="addSld delSld modSld">
      <pc:chgData name="kuljot bakshi" userId="e18f591f5991c12c" providerId="LiveId" clId="{848BE52E-FEF7-44CF-B8AB-7264220E5FAA}" dt="2026-05-08T06:29:05.685" v="37" actId="1076"/>
      <pc:docMkLst>
        <pc:docMk/>
      </pc:docMkLst>
      <pc:sldChg chg="del">
        <pc:chgData name="kuljot bakshi" userId="e18f591f5991c12c" providerId="LiveId" clId="{848BE52E-FEF7-44CF-B8AB-7264220E5FAA}" dt="2026-05-08T06:28:51.276" v="1" actId="47"/>
        <pc:sldMkLst>
          <pc:docMk/>
          <pc:sldMk cId="1190519482" sldId="256"/>
        </pc:sldMkLst>
      </pc:sldChg>
      <pc:sldChg chg="modSp add mod">
        <pc:chgData name="kuljot bakshi" userId="e18f591f5991c12c" providerId="LiveId" clId="{848BE52E-FEF7-44CF-B8AB-7264220E5FAA}" dt="2026-05-08T06:29:05.685" v="37" actId="1076"/>
        <pc:sldMkLst>
          <pc:docMk/>
          <pc:sldMk cId="481259985" sldId="414"/>
        </pc:sldMkLst>
        <pc:spChg chg="mod">
          <ac:chgData name="kuljot bakshi" userId="e18f591f5991c12c" providerId="LiveId" clId="{848BE52E-FEF7-44CF-B8AB-7264220E5FAA}" dt="2026-05-08T06:29:05.685" v="37" actId="1076"/>
          <ac:spMkLst>
            <pc:docMk/>
            <pc:sldMk cId="481259985" sldId="414"/>
            <ac:spMk id="2" creationId="{9FE59C8F-4F13-8FD7-030A-62F0B67BF62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37F02-34DA-4C89-82DB-307A1318A6E4}" type="datetimeFigureOut">
              <a:rPr lang="en-IN" smtClean="0"/>
              <a:t>08-05-2026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904C67-E713-43C0-95AE-49917D13C367}" type="slidenum">
              <a:rPr lang="en-IN" smtClean="0"/>
              <a:t>‹#›</a:t>
            </a:fld>
            <a:endParaRPr lang="en-IN"/>
          </a:p>
        </p:txBody>
      </p:sp>
    </p:spTree>
    <p:extLst>
      <p:ext uri="{BB962C8B-B14F-4D97-AF65-F5344CB8AC3E}">
        <p14:creationId xmlns:p14="http://schemas.microsoft.com/office/powerpoint/2010/main" val="1103846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effectLst/>
                <a:latin typeface="Calibri" panose="020F0502020204030204" pitchFamily="34" charset="0"/>
                <a:ea typeface="MS Mincho" panose="02020609040205080304" pitchFamily="49" charset="-128"/>
                <a:cs typeface="Arial" panose="020B0604020202020204" pitchFamily="34" charset="0"/>
              </a:rPr>
              <a:t>An </a:t>
            </a:r>
            <a:r>
              <a:rPr lang="en-US" sz="900" b="1">
                <a:effectLst/>
                <a:latin typeface="Calibri" panose="020F0502020204030204" pitchFamily="34" charset="0"/>
                <a:ea typeface="MS Mincho" panose="02020609040205080304" pitchFamily="49" charset="-128"/>
                <a:cs typeface="Arial" panose="020B0604020202020204" pitchFamily="34" charset="0"/>
              </a:rPr>
              <a:t>AI</a:t>
            </a:r>
            <a:r>
              <a:rPr lang="en-US" sz="900">
                <a:effectLst/>
                <a:latin typeface="Calibri" panose="020F0502020204030204" pitchFamily="34" charset="0"/>
                <a:ea typeface="MS Mincho" panose="02020609040205080304" pitchFamily="49" charset="-128"/>
                <a:cs typeface="Arial" panose="020B0604020202020204" pitchFamily="34" charset="0"/>
              </a:rPr>
              <a:t> </a:t>
            </a:r>
            <a:r>
              <a:rPr lang="en-US" sz="900" b="1">
                <a:effectLst/>
                <a:latin typeface="Calibri" panose="020F0502020204030204" pitchFamily="34" charset="0"/>
                <a:ea typeface="MS Mincho" panose="02020609040205080304" pitchFamily="49" charset="-128"/>
                <a:cs typeface="Arial" panose="020B0604020202020204" pitchFamily="34" charset="0"/>
              </a:rPr>
              <a:t>agent</a:t>
            </a:r>
            <a:r>
              <a:rPr lang="en-US" sz="900">
                <a:effectLst/>
                <a:latin typeface="Calibri" panose="020F0502020204030204" pitchFamily="34" charset="0"/>
                <a:ea typeface="MS Mincho" panose="02020609040205080304" pitchFamily="49" charset="-128"/>
                <a:cs typeface="Arial" panose="020B0604020202020204" pitchFamily="34" charset="0"/>
              </a:rPr>
              <a:t> is a simple program where you allow an LLM to help you decide the control flow of the program. It is like a micro-service that can execute tasks and achieve specific business outcomes.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effectLst/>
              <a:latin typeface="Calibri" panose="020F0502020204030204" pitchFamily="34" charset="0"/>
              <a:ea typeface="MS Mincho" panose="02020609040205080304" pitchFamily="49"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effectLst/>
                <a:latin typeface="Segoe UI" panose="020B0502040204020203" pitchFamily="34" charset="0"/>
              </a:rPr>
              <a:t>just like microservices, you can update or fine-tune an agent without having to rebuild the whole system. Even if our applications aren’t literally a collection of tiny agents coordinating with each other, thinking in these terms helps us focus on modularity and scalability. It’s all about having a unit of logic that's easy to optimize and improve over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u="sng">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effectLst/>
                <a:latin typeface="Segoe UI Semilight" panose="020B0402040204020203" pitchFamily="34" charset="0"/>
                <a:ea typeface="Times New Roman" panose="02020603050405020304" pitchFamily="18" charset="0"/>
                <a:cs typeface="Times New Roman" panose="02020603050405020304" pitchFamily="18" charset="0"/>
              </a:rPr>
              <a:t>What makes an agent different from traditional software (and RPA) is its ability to handle unstructured, multi-modal input, it uses the LLM to decide which tool to invoke. </a:t>
            </a:r>
            <a:endParaRPr lang="en-US"/>
          </a:p>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5/8/2026 11:58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1698786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C43A76A3-ADC8-4477-8FC1-B9DD55D84908}" type="datetime1">
              <a:rPr lang="en-US" smtClean="0"/>
              <a:t>5/8/2026</a:t>
            </a:fld>
            <a:endParaRPr lang="en-US" dirty="0"/>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5747434-7036-48DB-A148-6B3D8EE75CDA}" type="slidenum">
              <a:rPr lang="en-US" smtClean="0"/>
              <a:t>‹#›</a:t>
            </a:fld>
            <a:endParaRPr lang="en-US" dirty="0"/>
          </a:p>
        </p:txBody>
      </p:sp>
    </p:spTree>
    <p:extLst>
      <p:ext uri="{BB962C8B-B14F-4D97-AF65-F5344CB8AC3E}">
        <p14:creationId xmlns:p14="http://schemas.microsoft.com/office/powerpoint/2010/main" val="1706995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DE7F49BE-398D-479A-8A7E-5DDBCA61EDCB}" type="datetime1">
              <a:rPr lang="en-US" smtClean="0"/>
              <a:t>5/8/2026</a:t>
            </a:fld>
            <a:endParaRPr lang="en-US"/>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708698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CCD0C193-4974-4A1F-9C63-07D595E30D66}" type="datetime1">
              <a:rPr lang="en-US" smtClean="0"/>
              <a:t>5/8/2026</a:t>
            </a:fld>
            <a:endParaRPr lang="en-US"/>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561964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701AA87F-28D4-4BF0-B81F-877A89DFD5AC}" type="datetime1">
              <a:rPr lang="en-US" smtClean="0"/>
              <a:t>5/8/2026</a:t>
            </a:fld>
            <a:endParaRPr lang="en-US"/>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432804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A8A9F1F3-208B-49A3-B337-9C8ACEB3E0E1}" type="datetime1">
              <a:rPr lang="en-US" smtClean="0"/>
              <a:t>5/8/2026</a:t>
            </a:fld>
            <a:endParaRPr lang="en-US"/>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002424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27AF6CA6-7293-4AA2-A0E0-A3BF4416E786}" type="datetime1">
              <a:rPr lang="en-US" smtClean="0"/>
              <a:t>5/8/2026</a:t>
            </a:fld>
            <a:endParaRPr lang="en-US"/>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174657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98D87016-7BCD-46FB-8EE3-AB6C369108B4}" type="datetime1">
              <a:rPr lang="en-US" smtClean="0"/>
              <a:t>5/8/2026</a:t>
            </a:fld>
            <a:endParaRPr lang="en-US"/>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5996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A1547011-1FFC-4EF8-9A2E-53B4AD2ADBD4}" type="datetime1">
              <a:rPr lang="en-US" smtClean="0"/>
              <a:t>5/8/2026</a:t>
            </a:fld>
            <a:endParaRPr lang="en-US"/>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321231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9562EB47-45B4-4EF5-A743-B4885DD2F060}" type="datetime1">
              <a:rPr lang="en-US" smtClean="0"/>
              <a:t>5/8/2026</a:t>
            </a:fld>
            <a:endParaRPr lang="en-US"/>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4041139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D6762538-DC4D-4667-96E5-B3278DDF8B12}" type="datetime1">
              <a:rPr lang="en-US" smtClean="0"/>
              <a:t>5/8/2026</a:t>
            </a:fld>
            <a:endParaRPr lang="en-US"/>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179065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880548-5C08-4BE3-B63E-F2BB63B0B00C}" type="datetime1">
              <a:rPr lang="en-US" smtClean="0"/>
              <a:t>5/8/2026</a:t>
            </a:fld>
            <a:endParaRPr lang="en-US"/>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8396187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5F389-8D73-21B6-7A6F-40C505B15EC3}"/>
              </a:ext>
            </a:extLst>
          </p:cNvPr>
          <p:cNvSpPr>
            <a:spLocks noGrp="1"/>
          </p:cNvSpPr>
          <p:nvPr>
            <p:ph type="title"/>
          </p:nvPr>
        </p:nvSpPr>
        <p:spPr/>
        <p:txBody>
          <a:bodyPr/>
          <a:lstStyle/>
          <a:p>
            <a:r>
              <a:rPr lang="en-US"/>
              <a:t>Click to edit Master title style</a:t>
            </a:r>
            <a:endParaRPr lang="en-IN"/>
          </a:p>
        </p:txBody>
      </p:sp>
      <p:grpSp>
        <p:nvGrpSpPr>
          <p:cNvPr id="4" name="Group 3">
            <a:extLst>
              <a:ext uri="{FF2B5EF4-FFF2-40B4-BE49-F238E27FC236}">
                <a16:creationId xmlns:a16="http://schemas.microsoft.com/office/drawing/2014/main" id="{5A1AA302-6427-5A2A-2570-F6356F623975}"/>
              </a:ext>
            </a:extLst>
          </p:cNvPr>
          <p:cNvGrpSpPr/>
          <p:nvPr userDrawn="1"/>
        </p:nvGrpSpPr>
        <p:grpSpPr>
          <a:xfrm>
            <a:off x="0" y="6701742"/>
            <a:ext cx="12191998" cy="156259"/>
            <a:chOff x="0" y="6701740"/>
            <a:chExt cx="12192000" cy="156259"/>
          </a:xfrm>
        </p:grpSpPr>
        <p:pic>
          <p:nvPicPr>
            <p:cNvPr id="5" name="Picture 4">
              <a:extLst>
                <a:ext uri="{FF2B5EF4-FFF2-40B4-BE49-F238E27FC236}">
                  <a16:creationId xmlns:a16="http://schemas.microsoft.com/office/drawing/2014/main" id="{93166A68-7012-E2DA-EB48-B898E32F12CB}"/>
                </a:ext>
              </a:extLst>
            </p:cNvPr>
            <p:cNvPicPr>
              <a:picLocks noChangeAspect="1" noChangeArrowheads="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97808"/>
            <a:stretch>
              <a:fillRect/>
            </a:stretch>
          </p:blipFill>
          <p:spPr bwMode="auto">
            <a:xfrm>
              <a:off x="0" y="6707648"/>
              <a:ext cx="12192000" cy="150351"/>
            </a:xfrm>
            <a:prstGeom prst="rect">
              <a:avLst/>
            </a:prstGeom>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6C8FAB7C-3C08-A36E-89FA-14D9A16E6389}"/>
                </a:ext>
              </a:extLst>
            </p:cNvPr>
            <p:cNvSpPr/>
            <p:nvPr userDrawn="1"/>
          </p:nvSpPr>
          <p:spPr bwMode="auto">
            <a:xfrm>
              <a:off x="0" y="6701740"/>
              <a:ext cx="12192000" cy="156259"/>
            </a:xfrm>
            <a:prstGeom prst="rect">
              <a:avLst/>
            </a:prstGeom>
            <a:gradFill flip="none" rotWithShape="1">
              <a:gsLst>
                <a:gs pos="100000">
                  <a:srgbClr val="0070C0">
                    <a:alpha val="74000"/>
                  </a:srgbClr>
                </a:gs>
                <a:gs pos="0">
                  <a:schemeClr val="accent1">
                    <a:alpha val="70000"/>
                  </a:schemeClr>
                </a:gs>
              </a:gsLst>
              <a:lin ang="14400000" scaled="0"/>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grpSp>
    </p:spTree>
    <p:extLst>
      <p:ext uri="{BB962C8B-B14F-4D97-AF65-F5344CB8AC3E}">
        <p14:creationId xmlns:p14="http://schemas.microsoft.com/office/powerpoint/2010/main" val="156906795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4A8D24A4-5FEC-4062-8995-EB21925B3B40}" type="datetime1">
              <a:rPr lang="en-US" smtClean="0"/>
              <a:t>5/8/2026</a:t>
            </a:fld>
            <a:endParaRPr lang="en-US" sz="1000" dirty="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sz="1000"/>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5747434-7036-48DB-A148-6B3D8EE75CDA}" type="slidenum">
              <a:rPr lang="en-US" smtClean="0"/>
              <a:pPr/>
              <a:t>‹#›</a:t>
            </a:fld>
            <a:endParaRPr lang="en-US" sz="1000" dirty="0"/>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44615087"/>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50" r:id="rId7"/>
    <p:sldLayoutId id="2147483746" r:id="rId8"/>
    <p:sldLayoutId id="2147483747" r:id="rId9"/>
    <p:sldLayoutId id="2147483748" r:id="rId10"/>
    <p:sldLayoutId id="2147483749" r:id="rId11"/>
    <p:sldLayoutId id="2147483752" r:id="rId12"/>
  </p:sldLayoutIdLst>
  <p:hf sldNum="0" hdr="0" ftr="0" dt="0"/>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hyperlink" Target="https://www.microsoft.com/en-us/worklab/ai-at-work-what-are-agents-how-do-they-help-businesses" TargetMode="External"/><Relationship Id="rId4" Type="http://schemas.openxmlformats.org/officeDocument/2006/relationships/image" Target="../media/image10.png"/><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59C8F-4F13-8FD7-030A-62F0B67BF628}"/>
              </a:ext>
            </a:extLst>
          </p:cNvPr>
          <p:cNvSpPr>
            <a:spLocks noGrp="1"/>
          </p:cNvSpPr>
          <p:nvPr>
            <p:ph type="ctrTitle"/>
          </p:nvPr>
        </p:nvSpPr>
        <p:spPr>
          <a:xfrm>
            <a:off x="475486" y="3429000"/>
            <a:ext cx="11241026" cy="2387600"/>
          </a:xfrm>
        </p:spPr>
        <p:txBody>
          <a:bodyPr/>
          <a:lstStyle/>
          <a:p>
            <a:r>
              <a:rPr lang="en-US" dirty="0"/>
              <a:t>AI Agents and Compound AI Systems</a:t>
            </a:r>
            <a:endParaRPr lang="en-IN" dirty="0"/>
          </a:p>
        </p:txBody>
      </p:sp>
      <p:pic>
        <p:nvPicPr>
          <p:cNvPr id="5" name="Picture 4">
            <a:extLst>
              <a:ext uri="{FF2B5EF4-FFF2-40B4-BE49-F238E27FC236}">
                <a16:creationId xmlns:a16="http://schemas.microsoft.com/office/drawing/2014/main" id="{2E2D174C-9480-F7C5-AEAC-B0DCE7176B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3058" y="631414"/>
            <a:ext cx="6645883" cy="3739417"/>
          </a:xfrm>
          <a:prstGeom prst="rect">
            <a:avLst/>
          </a:prstGeom>
        </p:spPr>
      </p:pic>
    </p:spTree>
    <p:extLst>
      <p:ext uri="{BB962C8B-B14F-4D97-AF65-F5344CB8AC3E}">
        <p14:creationId xmlns:p14="http://schemas.microsoft.com/office/powerpoint/2010/main" val="481259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EF37F-7A64-5BAE-5817-742E4CF94A86}"/>
              </a:ext>
            </a:extLst>
          </p:cNvPr>
          <p:cNvSpPr>
            <a:spLocks noGrp="1"/>
          </p:cNvSpPr>
          <p:nvPr>
            <p:ph type="title"/>
          </p:nvPr>
        </p:nvSpPr>
        <p:spPr>
          <a:xfrm>
            <a:off x="920394" y="-107486"/>
            <a:ext cx="10515600" cy="1325563"/>
          </a:xfrm>
        </p:spPr>
        <p:txBody>
          <a:bodyPr/>
          <a:lstStyle/>
          <a:p>
            <a:pPr algn="ctr"/>
            <a:r>
              <a:rPr lang="en-US" dirty="0"/>
              <a:t>Just a Quick Look at Generative AI</a:t>
            </a:r>
            <a:endParaRPr lang="en-IN" dirty="0"/>
          </a:p>
        </p:txBody>
      </p:sp>
      <p:pic>
        <p:nvPicPr>
          <p:cNvPr id="5" name="Content Placeholder 4">
            <a:extLst>
              <a:ext uri="{FF2B5EF4-FFF2-40B4-BE49-F238E27FC236}">
                <a16:creationId xmlns:a16="http://schemas.microsoft.com/office/drawing/2014/main" id="{8374F218-85BB-8618-C99C-79EA4096911E}"/>
              </a:ext>
            </a:extLst>
          </p:cNvPr>
          <p:cNvPicPr>
            <a:picLocks noGrp="1" noChangeAspect="1"/>
          </p:cNvPicPr>
          <p:nvPr>
            <p:ph idx="1"/>
          </p:nvPr>
        </p:nvPicPr>
        <p:blipFill>
          <a:blip r:embed="rId2"/>
          <a:stretch>
            <a:fillRect/>
          </a:stretch>
        </p:blipFill>
        <p:spPr>
          <a:xfrm>
            <a:off x="255141" y="1815689"/>
            <a:ext cx="11681717" cy="4385494"/>
          </a:xfrm>
          <a:prstGeom prst="rect">
            <a:avLst/>
          </a:prstGeom>
        </p:spPr>
      </p:pic>
    </p:spTree>
    <p:extLst>
      <p:ext uri="{BB962C8B-B14F-4D97-AF65-F5344CB8AC3E}">
        <p14:creationId xmlns:p14="http://schemas.microsoft.com/office/powerpoint/2010/main" val="32121040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2DA6F-C64E-C622-ABD2-EDCB4A9FD8FE}"/>
              </a:ext>
            </a:extLst>
          </p:cNvPr>
          <p:cNvSpPr>
            <a:spLocks noGrp="1"/>
          </p:cNvSpPr>
          <p:nvPr>
            <p:ph type="title"/>
          </p:nvPr>
        </p:nvSpPr>
        <p:spPr>
          <a:xfrm>
            <a:off x="1095055" y="-207776"/>
            <a:ext cx="10515600" cy="1325563"/>
          </a:xfrm>
        </p:spPr>
        <p:txBody>
          <a:bodyPr/>
          <a:lstStyle/>
          <a:p>
            <a:pPr algn="ctr"/>
            <a:r>
              <a:rPr lang="en-US" dirty="0"/>
              <a:t>LLMs – Large Language Models</a:t>
            </a:r>
            <a:endParaRPr lang="en-IN" dirty="0"/>
          </a:p>
        </p:txBody>
      </p:sp>
      <p:pic>
        <p:nvPicPr>
          <p:cNvPr id="4098" name="Picture 2" descr="Diagram showing the different generations of LLMs associated with the number of parameters each model has.">
            <a:extLst>
              <a:ext uri="{FF2B5EF4-FFF2-40B4-BE49-F238E27FC236}">
                <a16:creationId xmlns:a16="http://schemas.microsoft.com/office/drawing/2014/main" id="{7D4CCD49-E8AD-5354-F5B7-D7907EA127A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869950" y="1550588"/>
            <a:ext cx="7206582" cy="412365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E983ECB-C095-0F0C-6845-13F10FD86501}"/>
              </a:ext>
            </a:extLst>
          </p:cNvPr>
          <p:cNvSpPr txBox="1"/>
          <p:nvPr/>
        </p:nvSpPr>
        <p:spPr>
          <a:xfrm>
            <a:off x="341188" y="1333798"/>
            <a:ext cx="3819846" cy="175432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gn="ctr"/>
            <a:r>
              <a:rPr lang="en-US" b="0" i="0" dirty="0">
                <a:effectLst/>
                <a:latin typeface="Segoe UI" panose="020B0502040204020203" pitchFamily="34" charset="0"/>
              </a:rPr>
              <a:t>An LLM is built by using a neural network architecture. It takes an input, has several hidden layers that break down different aspects of language, and produces at the output layer.</a:t>
            </a:r>
            <a:endParaRPr lang="en-IN" dirty="0"/>
          </a:p>
        </p:txBody>
      </p:sp>
      <p:sp>
        <p:nvSpPr>
          <p:cNvPr id="7" name="TextBox 6">
            <a:extLst>
              <a:ext uri="{FF2B5EF4-FFF2-40B4-BE49-F238E27FC236}">
                <a16:creationId xmlns:a16="http://schemas.microsoft.com/office/drawing/2014/main" id="{B5864F3B-FC67-5408-F2BA-FFA1CDC6C2AD}"/>
              </a:ext>
            </a:extLst>
          </p:cNvPr>
          <p:cNvSpPr txBox="1"/>
          <p:nvPr/>
        </p:nvSpPr>
        <p:spPr>
          <a:xfrm>
            <a:off x="341188" y="4719414"/>
            <a:ext cx="3819846"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0" i="0" dirty="0">
                <a:effectLst/>
                <a:latin typeface="Segoe UI" panose="020B0502040204020203" pitchFamily="34" charset="0"/>
              </a:rPr>
              <a:t>A </a:t>
            </a:r>
            <a:r>
              <a:rPr lang="en-US" b="0" i="1" dirty="0">
                <a:effectLst/>
                <a:latin typeface="Segoe UI" panose="020B0502040204020203" pitchFamily="34" charset="0"/>
              </a:rPr>
              <a:t>foundation model</a:t>
            </a:r>
            <a:r>
              <a:rPr lang="en-US" b="0" i="0" dirty="0">
                <a:effectLst/>
                <a:latin typeface="Segoe UI" panose="020B0502040204020203" pitchFamily="34" charset="0"/>
              </a:rPr>
              <a:t> refers to a specific instance or version of an LLM. For example, GPT-3, GPT-4, or Codex.</a:t>
            </a:r>
            <a:endParaRPr lang="en-IN" dirty="0"/>
          </a:p>
        </p:txBody>
      </p:sp>
    </p:spTree>
    <p:extLst>
      <p:ext uri="{BB962C8B-B14F-4D97-AF65-F5344CB8AC3E}">
        <p14:creationId xmlns:p14="http://schemas.microsoft.com/office/powerpoint/2010/main" val="3458703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D7106-DD44-C296-0D58-6849F84D19A0}"/>
              </a:ext>
            </a:extLst>
          </p:cNvPr>
          <p:cNvSpPr>
            <a:spLocks noGrp="1"/>
          </p:cNvSpPr>
          <p:nvPr>
            <p:ph type="title"/>
          </p:nvPr>
        </p:nvSpPr>
        <p:spPr/>
        <p:txBody>
          <a:bodyPr/>
          <a:lstStyle/>
          <a:p>
            <a:r>
              <a:rPr lang="en-US" dirty="0"/>
              <a:t>Compound AI Systems</a:t>
            </a:r>
            <a:endParaRPr lang="en-IN" dirty="0"/>
          </a:p>
        </p:txBody>
      </p:sp>
      <p:pic>
        <p:nvPicPr>
          <p:cNvPr id="2050" name="Picture 2" descr="AI agentic applications are a subset of compound AI systems">
            <a:extLst>
              <a:ext uri="{FF2B5EF4-FFF2-40B4-BE49-F238E27FC236}">
                <a16:creationId xmlns:a16="http://schemas.microsoft.com/office/drawing/2014/main" id="{16574385-0A6E-041C-ABEC-79AF3DF84F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1720" y="2051434"/>
            <a:ext cx="4152900" cy="40767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0B9A3AA-3AD5-EBF2-C4E2-864FBB15A553}"/>
              </a:ext>
            </a:extLst>
          </p:cNvPr>
          <p:cNvSpPr txBox="1"/>
          <p:nvPr/>
        </p:nvSpPr>
        <p:spPr>
          <a:xfrm>
            <a:off x="5739644" y="3620869"/>
            <a:ext cx="6094324" cy="646331"/>
          </a:xfrm>
          <a:prstGeom prst="rect">
            <a:avLst/>
          </a:prstGeom>
          <a:noFill/>
        </p:spPr>
        <p:txBody>
          <a:bodyPr wrap="square">
            <a:spAutoFit/>
          </a:bodyPr>
          <a:lstStyle/>
          <a:p>
            <a:r>
              <a:rPr lang="en-US" b="0" i="0" dirty="0">
                <a:solidFill>
                  <a:srgbClr val="FF0000"/>
                </a:solidFill>
                <a:effectLst/>
                <a:latin typeface="DM Sans" pitchFamily="2" charset="0"/>
              </a:rPr>
              <a:t>Compound AI Systems </a:t>
            </a:r>
            <a:r>
              <a:rPr lang="en-US" b="0" i="0" dirty="0">
                <a:solidFill>
                  <a:srgbClr val="1B3139"/>
                </a:solidFill>
                <a:effectLst/>
                <a:latin typeface="DM Sans" pitchFamily="2" charset="0"/>
              </a:rPr>
              <a:t>are systems that tackle AI tasks by combining multiple interacting components. </a:t>
            </a:r>
            <a:endParaRPr lang="en-IN" dirty="0"/>
          </a:p>
        </p:txBody>
      </p:sp>
      <p:sp>
        <p:nvSpPr>
          <p:cNvPr id="6" name="TextBox 5">
            <a:extLst>
              <a:ext uri="{FF2B5EF4-FFF2-40B4-BE49-F238E27FC236}">
                <a16:creationId xmlns:a16="http://schemas.microsoft.com/office/drawing/2014/main" id="{56FAAC23-B324-88BF-2370-21EED0ED4FB9}"/>
              </a:ext>
            </a:extLst>
          </p:cNvPr>
          <p:cNvSpPr txBox="1"/>
          <p:nvPr/>
        </p:nvSpPr>
        <p:spPr>
          <a:xfrm>
            <a:off x="5739644" y="1690688"/>
            <a:ext cx="5906947" cy="1477328"/>
          </a:xfrm>
          <a:prstGeom prst="rect">
            <a:avLst/>
          </a:prstGeom>
          <a:noFill/>
        </p:spPr>
        <p:txBody>
          <a:bodyPr wrap="square" rtlCol="0">
            <a:spAutoFit/>
          </a:bodyPr>
          <a:lstStyle/>
          <a:p>
            <a:r>
              <a:rPr lang="en-US" dirty="0"/>
              <a:t>With the advent of </a:t>
            </a:r>
            <a:r>
              <a:rPr lang="en-US" dirty="0" err="1"/>
              <a:t>GenAI</a:t>
            </a:r>
            <a:r>
              <a:rPr lang="en-US" dirty="0"/>
              <a:t>, people initially focused a lot on deploying </a:t>
            </a:r>
            <a:r>
              <a:rPr lang="en-US" dirty="0">
                <a:solidFill>
                  <a:srgbClr val="FF0000"/>
                </a:solidFill>
              </a:rPr>
              <a:t>primary LLMs </a:t>
            </a:r>
            <a:r>
              <a:rPr lang="en-US" dirty="0"/>
              <a:t>are simple </a:t>
            </a:r>
            <a:r>
              <a:rPr lang="en-US" dirty="0" err="1"/>
              <a:t>GenAI</a:t>
            </a:r>
            <a:r>
              <a:rPr lang="en-US" dirty="0"/>
              <a:t> applications, but soon they realized its </a:t>
            </a:r>
            <a:r>
              <a:rPr lang="en-US" dirty="0">
                <a:solidFill>
                  <a:srgbClr val="FF0000"/>
                </a:solidFill>
              </a:rPr>
              <a:t>not enough for a good ROI</a:t>
            </a:r>
            <a:r>
              <a:rPr lang="en-US" dirty="0"/>
              <a:t>.</a:t>
            </a:r>
          </a:p>
          <a:p>
            <a:endParaRPr lang="en-US" dirty="0"/>
          </a:p>
          <a:p>
            <a:r>
              <a:rPr lang="en-US" dirty="0"/>
              <a:t>This led to birth of </a:t>
            </a:r>
            <a:r>
              <a:rPr lang="en-US" dirty="0">
                <a:solidFill>
                  <a:srgbClr val="FF0000"/>
                </a:solidFill>
              </a:rPr>
              <a:t>Compound AI Systems</a:t>
            </a:r>
            <a:endParaRPr lang="en-IN" dirty="0">
              <a:solidFill>
                <a:srgbClr val="FF0000"/>
              </a:solidFill>
            </a:endParaRPr>
          </a:p>
        </p:txBody>
      </p:sp>
      <p:sp>
        <p:nvSpPr>
          <p:cNvPr id="12" name="TextBox 11">
            <a:extLst>
              <a:ext uri="{FF2B5EF4-FFF2-40B4-BE49-F238E27FC236}">
                <a16:creationId xmlns:a16="http://schemas.microsoft.com/office/drawing/2014/main" id="{A3CA0903-0B3D-776D-9CB3-E55FA383AB95}"/>
              </a:ext>
            </a:extLst>
          </p:cNvPr>
          <p:cNvSpPr txBox="1"/>
          <p:nvPr/>
        </p:nvSpPr>
        <p:spPr>
          <a:xfrm>
            <a:off x="5739644" y="4705647"/>
            <a:ext cx="6096000" cy="923330"/>
          </a:xfrm>
          <a:prstGeom prst="rect">
            <a:avLst/>
          </a:prstGeom>
          <a:noFill/>
        </p:spPr>
        <p:txBody>
          <a:bodyPr wrap="square">
            <a:spAutoFit/>
          </a:bodyPr>
          <a:lstStyle/>
          <a:p>
            <a:r>
              <a:rPr lang="en-US" dirty="0"/>
              <a:t>focus is rapidly changing: state-of-the-art AI results are increasingly obtained by </a:t>
            </a:r>
            <a:r>
              <a:rPr lang="en-US" dirty="0">
                <a:solidFill>
                  <a:srgbClr val="FF0000"/>
                </a:solidFill>
              </a:rPr>
              <a:t>compound systems </a:t>
            </a:r>
            <a:r>
              <a:rPr lang="en-US" dirty="0"/>
              <a:t>with </a:t>
            </a:r>
            <a:r>
              <a:rPr lang="en-US" dirty="0">
                <a:solidFill>
                  <a:srgbClr val="FF0000"/>
                </a:solidFill>
              </a:rPr>
              <a:t>multiple components</a:t>
            </a:r>
            <a:r>
              <a:rPr lang="en-US" dirty="0"/>
              <a:t>, not just monolithic models.</a:t>
            </a:r>
            <a:endParaRPr lang="en-IN" dirty="0"/>
          </a:p>
        </p:txBody>
      </p:sp>
    </p:spTree>
    <p:extLst>
      <p:ext uri="{BB962C8B-B14F-4D97-AF65-F5344CB8AC3E}">
        <p14:creationId xmlns:p14="http://schemas.microsoft.com/office/powerpoint/2010/main" val="2664797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FBD8D-C8B3-CA6C-3805-3707F3E928C6}"/>
              </a:ext>
            </a:extLst>
          </p:cNvPr>
          <p:cNvSpPr>
            <a:spLocks noGrp="1"/>
          </p:cNvSpPr>
          <p:nvPr>
            <p:ph type="title"/>
          </p:nvPr>
        </p:nvSpPr>
        <p:spPr>
          <a:xfrm>
            <a:off x="1420334" y="154109"/>
            <a:ext cx="10659110" cy="1325563"/>
          </a:xfrm>
        </p:spPr>
        <p:txBody>
          <a:bodyPr/>
          <a:lstStyle/>
          <a:p>
            <a:r>
              <a:rPr lang="en-US" dirty="0"/>
              <a:t>AI Agents as Compound Systems</a:t>
            </a:r>
            <a:endParaRPr lang="en-IN" dirty="0"/>
          </a:p>
        </p:txBody>
      </p:sp>
      <p:pic>
        <p:nvPicPr>
          <p:cNvPr id="3074" name="Picture 2" descr="AI agents rationalize a plan and execute it with tools">
            <a:extLst>
              <a:ext uri="{FF2B5EF4-FFF2-40B4-BE49-F238E27FC236}">
                <a16:creationId xmlns:a16="http://schemas.microsoft.com/office/drawing/2014/main" id="{890676D8-4D2F-7AA7-3810-26B3A6357A2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36135" y="1539499"/>
            <a:ext cx="9295352" cy="234874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2E0C6C1-BFC7-77AB-A736-23C5E3DD3E44}"/>
              </a:ext>
            </a:extLst>
          </p:cNvPr>
          <p:cNvSpPr txBox="1"/>
          <p:nvPr/>
        </p:nvSpPr>
        <p:spPr>
          <a:xfrm>
            <a:off x="90166" y="4247620"/>
            <a:ext cx="6094324" cy="120032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b="0" i="0" dirty="0">
                <a:solidFill>
                  <a:srgbClr val="1B3139"/>
                </a:solidFill>
                <a:effectLst/>
                <a:latin typeface="DM Sans" pitchFamily="2" charset="0"/>
              </a:rPr>
              <a:t>The industry is still defining </a:t>
            </a:r>
            <a:r>
              <a:rPr lang="en-US" b="1" i="0" dirty="0">
                <a:solidFill>
                  <a:srgbClr val="1B3139"/>
                </a:solidFill>
                <a:effectLst/>
                <a:latin typeface="DM Sans" pitchFamily="2" charset="0"/>
              </a:rPr>
              <a:t>AI agents</a:t>
            </a:r>
            <a:r>
              <a:rPr lang="en-US" b="0" i="0" dirty="0">
                <a:solidFill>
                  <a:srgbClr val="1B3139"/>
                </a:solidFill>
                <a:effectLst/>
                <a:latin typeface="DM Sans" pitchFamily="2" charset="0"/>
              </a:rPr>
              <a:t>, however it generally understood as an AI system where the model makes some or all of the planning decisions in contrast to hard-coded logic. </a:t>
            </a:r>
            <a:endParaRPr lang="en-IN" dirty="0"/>
          </a:p>
        </p:txBody>
      </p:sp>
      <p:sp>
        <p:nvSpPr>
          <p:cNvPr id="7" name="TextBox 6">
            <a:extLst>
              <a:ext uri="{FF2B5EF4-FFF2-40B4-BE49-F238E27FC236}">
                <a16:creationId xmlns:a16="http://schemas.microsoft.com/office/drawing/2014/main" id="{F376B5E7-7C1B-75F8-2B30-2895D2A1C1F1}"/>
              </a:ext>
            </a:extLst>
          </p:cNvPr>
          <p:cNvSpPr txBox="1"/>
          <p:nvPr/>
        </p:nvSpPr>
        <p:spPr>
          <a:xfrm>
            <a:off x="3235811" y="5684346"/>
            <a:ext cx="6096000"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0" i="0" dirty="0">
                <a:solidFill>
                  <a:srgbClr val="1B3139"/>
                </a:solidFill>
                <a:effectLst/>
                <a:latin typeface="DM Sans" pitchFamily="2" charset="0"/>
              </a:rPr>
              <a:t>These agents use large language models (LLMs) to make decisions and accomplish their objectives.</a:t>
            </a:r>
            <a:endParaRPr lang="en-IN" dirty="0"/>
          </a:p>
        </p:txBody>
      </p:sp>
      <p:sp>
        <p:nvSpPr>
          <p:cNvPr id="9" name="TextBox 8">
            <a:extLst>
              <a:ext uri="{FF2B5EF4-FFF2-40B4-BE49-F238E27FC236}">
                <a16:creationId xmlns:a16="http://schemas.microsoft.com/office/drawing/2014/main" id="{349E8958-3277-6C37-A623-C4041A77F6DC}"/>
              </a:ext>
            </a:extLst>
          </p:cNvPr>
          <p:cNvSpPr txBox="1"/>
          <p:nvPr/>
        </p:nvSpPr>
        <p:spPr>
          <a:xfrm>
            <a:off x="6275706" y="4377069"/>
            <a:ext cx="5914618" cy="9414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0" i="0" dirty="0">
                <a:solidFill>
                  <a:srgbClr val="1B3139"/>
                </a:solidFill>
                <a:effectLst/>
                <a:latin typeface="DM Sans" pitchFamily="2" charset="0"/>
              </a:rPr>
              <a:t>Agency is a continuum, the more freedom we provide models to control the behavior of the system, the more agent-like the application becomes.</a:t>
            </a:r>
            <a:endParaRPr lang="en-IN" dirty="0"/>
          </a:p>
        </p:txBody>
      </p:sp>
    </p:spTree>
    <p:extLst>
      <p:ext uri="{BB962C8B-B14F-4D97-AF65-F5344CB8AC3E}">
        <p14:creationId xmlns:p14="http://schemas.microsoft.com/office/powerpoint/2010/main" val="3572049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A7551-C250-DA0A-D770-E0EDD2B0018C}"/>
              </a:ext>
            </a:extLst>
          </p:cNvPr>
          <p:cNvSpPr>
            <a:spLocks noGrp="1"/>
          </p:cNvSpPr>
          <p:nvPr>
            <p:ph type="title"/>
          </p:nvPr>
        </p:nvSpPr>
        <p:spPr/>
        <p:txBody>
          <a:bodyPr/>
          <a:lstStyle/>
          <a:p>
            <a:pPr algn="ctr"/>
            <a:r>
              <a:rPr lang="en-US" dirty="0"/>
              <a:t>From LLMs to AI Agents</a:t>
            </a:r>
            <a:endParaRPr lang="en-IN" dirty="0"/>
          </a:p>
        </p:txBody>
      </p:sp>
      <p:pic>
        <p:nvPicPr>
          <p:cNvPr id="4098" name="Picture 2" descr="LLM respond to users">
            <a:extLst>
              <a:ext uri="{FF2B5EF4-FFF2-40B4-BE49-F238E27FC236}">
                <a16:creationId xmlns:a16="http://schemas.microsoft.com/office/drawing/2014/main" id="{0B9CC0B5-C93A-9CE1-35DB-0B19527272C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1266" y="1607602"/>
            <a:ext cx="3028950" cy="14859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534A6D5-34DB-AD2F-F57E-519489625D2B}"/>
              </a:ext>
            </a:extLst>
          </p:cNvPr>
          <p:cNvSpPr txBox="1"/>
          <p:nvPr/>
        </p:nvSpPr>
        <p:spPr>
          <a:xfrm>
            <a:off x="3814079" y="1772202"/>
            <a:ext cx="6094324" cy="757836"/>
          </a:xfrm>
          <a:prstGeom prst="rect">
            <a:avLst/>
          </a:prstGeom>
          <a:noFill/>
        </p:spPr>
        <p:txBody>
          <a:bodyPr wrap="square">
            <a:spAutoFit/>
          </a:bodyPr>
          <a:lstStyle/>
          <a:p>
            <a:pPr algn="l">
              <a:lnSpc>
                <a:spcPts val="1650"/>
              </a:lnSpc>
            </a:pPr>
            <a:r>
              <a:rPr lang="en-US" b="1" i="0" dirty="0">
                <a:solidFill>
                  <a:srgbClr val="1B3139"/>
                </a:solidFill>
                <a:effectLst/>
                <a:latin typeface="DM Sans" pitchFamily="2" charset="0"/>
              </a:rPr>
              <a:t>1. LLMs:</a:t>
            </a:r>
            <a:r>
              <a:rPr lang="en-US" b="0" i="0" dirty="0">
                <a:solidFill>
                  <a:srgbClr val="1B3139"/>
                </a:solidFill>
                <a:effectLst/>
                <a:latin typeface="DM Sans" pitchFamily="2" charset="0"/>
              </a:rPr>
              <a:t> Initially, large language models simply responded to prompts based on knowledge from a vast training dataset.</a:t>
            </a:r>
          </a:p>
        </p:txBody>
      </p:sp>
      <p:pic>
        <p:nvPicPr>
          <p:cNvPr id="4100" name="Picture 4" descr="predetermined toolchains">
            <a:extLst>
              <a:ext uri="{FF2B5EF4-FFF2-40B4-BE49-F238E27FC236}">
                <a16:creationId xmlns:a16="http://schemas.microsoft.com/office/drawing/2014/main" id="{BA26D7E0-5FEC-A15B-1407-39FBC70DC9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147" y="3945159"/>
            <a:ext cx="5978628" cy="105229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156896F-F18A-D7AF-9097-9188C252FC4C}"/>
              </a:ext>
            </a:extLst>
          </p:cNvPr>
          <p:cNvSpPr txBox="1"/>
          <p:nvPr/>
        </p:nvSpPr>
        <p:spPr>
          <a:xfrm>
            <a:off x="382843" y="5167312"/>
            <a:ext cx="6094324" cy="1629870"/>
          </a:xfrm>
          <a:prstGeom prst="rect">
            <a:avLst/>
          </a:prstGeom>
          <a:noFill/>
        </p:spPr>
        <p:txBody>
          <a:bodyPr wrap="square">
            <a:spAutoFit/>
          </a:bodyPr>
          <a:lstStyle/>
          <a:p>
            <a:pPr algn="l">
              <a:lnSpc>
                <a:spcPts val="1650"/>
              </a:lnSpc>
              <a:buFont typeface="+mj-lt"/>
              <a:buAutoNum type="arabicPeriod" startAt="2"/>
            </a:pPr>
            <a:r>
              <a:rPr lang="en-US" b="1" i="0" dirty="0">
                <a:solidFill>
                  <a:srgbClr val="1B3139"/>
                </a:solidFill>
                <a:effectLst/>
                <a:latin typeface="DM Sans" pitchFamily="2" charset="0"/>
              </a:rPr>
              <a:t> LLMs + tool chains:</a:t>
            </a:r>
            <a:r>
              <a:rPr lang="en-US" b="0" i="0" dirty="0">
                <a:solidFill>
                  <a:srgbClr val="1B3139"/>
                </a:solidFill>
                <a:effectLst/>
                <a:latin typeface="DM Sans" pitchFamily="2" charset="0"/>
              </a:rPr>
              <a:t> Then, developers added hardcoded tools to expand the LLM’s capabilities. For example, retrieval augmented generation (RAG) expanded an LLM’s knowledge base with custom documentation sets, while API tools allowed LLMs to perform tasks like create support tickets or send emails.</a:t>
            </a:r>
          </a:p>
        </p:txBody>
      </p:sp>
      <p:pic>
        <p:nvPicPr>
          <p:cNvPr id="4102" name="Picture 6" descr="AI agents rationalize a plan and execute it with tools">
            <a:extLst>
              <a:ext uri="{FF2B5EF4-FFF2-40B4-BE49-F238E27FC236}">
                <a16:creationId xmlns:a16="http://schemas.microsoft.com/office/drawing/2014/main" id="{5EBDC781-299F-D484-BBA7-DBFC2B3798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4139" y="3767216"/>
            <a:ext cx="4868749" cy="123023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659FACB-D1E6-E5C5-B473-52EC4B8BAD07}"/>
              </a:ext>
            </a:extLst>
          </p:cNvPr>
          <p:cNvSpPr txBox="1"/>
          <p:nvPr/>
        </p:nvSpPr>
        <p:spPr>
          <a:xfrm>
            <a:off x="6411237" y="5204859"/>
            <a:ext cx="5594555" cy="1629870"/>
          </a:xfrm>
          <a:prstGeom prst="rect">
            <a:avLst/>
          </a:prstGeom>
          <a:noFill/>
        </p:spPr>
        <p:txBody>
          <a:bodyPr wrap="square">
            <a:spAutoFit/>
          </a:bodyPr>
          <a:lstStyle/>
          <a:p>
            <a:pPr algn="l">
              <a:lnSpc>
                <a:spcPts val="1650"/>
              </a:lnSpc>
              <a:buFont typeface="+mj-lt"/>
              <a:buAutoNum type="arabicPeriod" startAt="3"/>
            </a:pPr>
            <a:r>
              <a:rPr lang="en-US" b="1" i="0" dirty="0">
                <a:solidFill>
                  <a:srgbClr val="1B3139"/>
                </a:solidFill>
                <a:effectLst/>
                <a:latin typeface="DM Sans" pitchFamily="2" charset="0"/>
              </a:rPr>
              <a:t>AI agents:</a:t>
            </a:r>
            <a:r>
              <a:rPr lang="en-US" b="0" i="0" dirty="0">
                <a:solidFill>
                  <a:srgbClr val="1B3139"/>
                </a:solidFill>
                <a:effectLst/>
                <a:latin typeface="DM Sans" pitchFamily="2" charset="0"/>
              </a:rPr>
              <a:t> Now, AI agents autonomously create plans and execute tasks based on their understanding of the problem. AI agents still use tools but it’s up to them to decide which tool to use and when. The key distinction is in the level of autonomy and decision-making capabilities compared to compound AI systems.</a:t>
            </a:r>
          </a:p>
        </p:txBody>
      </p:sp>
    </p:spTree>
    <p:extLst>
      <p:ext uri="{BB962C8B-B14F-4D97-AF65-F5344CB8AC3E}">
        <p14:creationId xmlns:p14="http://schemas.microsoft.com/office/powerpoint/2010/main" val="3045615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59326-EBDF-F48E-7D5B-A33740835EE3}"/>
              </a:ext>
            </a:extLst>
          </p:cNvPr>
          <p:cNvSpPr>
            <a:spLocks noGrp="1"/>
          </p:cNvSpPr>
          <p:nvPr>
            <p:ph type="title"/>
          </p:nvPr>
        </p:nvSpPr>
        <p:spPr>
          <a:xfrm>
            <a:off x="588263" y="457200"/>
            <a:ext cx="11018520" cy="430887"/>
          </a:xfrm>
        </p:spPr>
        <p:txBody>
          <a:bodyPr>
            <a:normAutofit fontScale="90000"/>
          </a:bodyPr>
          <a:lstStyle/>
          <a:p>
            <a:r>
              <a:rPr lang="en-US"/>
              <a:t>What is an agent?</a:t>
            </a:r>
          </a:p>
        </p:txBody>
      </p:sp>
      <p:sp>
        <p:nvSpPr>
          <p:cNvPr id="54" name="Rounded Rectangle 12">
            <a:extLst>
              <a:ext uri="{FF2B5EF4-FFF2-40B4-BE49-F238E27FC236}">
                <a16:creationId xmlns:a16="http://schemas.microsoft.com/office/drawing/2014/main" id="{07FA9820-6B5A-B8B2-245E-37B1FBC6616B}"/>
              </a:ext>
              <a:ext uri="{C183D7F6-B498-43B3-948B-1728B52AA6E4}">
                <adec:decorative xmlns:adec="http://schemas.microsoft.com/office/drawing/2017/decorative" val="1"/>
              </a:ext>
            </a:extLst>
          </p:cNvPr>
          <p:cNvSpPr/>
          <p:nvPr/>
        </p:nvSpPr>
        <p:spPr bwMode="auto">
          <a:xfrm>
            <a:off x="8395498" y="2279122"/>
            <a:ext cx="2746535" cy="1939912"/>
          </a:xfrm>
          <a:prstGeom prst="roundRect">
            <a:avLst>
              <a:gd name="adj" fmla="val 18484"/>
            </a:avLst>
          </a:prstGeom>
          <a:gradFill flip="none" rotWithShape="1">
            <a:gsLst>
              <a:gs pos="80000">
                <a:srgbClr val="A9D5ED">
                  <a:alpha val="10000"/>
                </a:srgbClr>
              </a:gs>
              <a:gs pos="0">
                <a:srgbClr val="FFC6CC">
                  <a:alpha val="10000"/>
                </a:srgbClr>
              </a:gs>
            </a:gsLst>
            <a:path path="circle">
              <a:fillToRect l="100000" t="100000"/>
            </a:path>
            <a:tileRect r="-100000" b="-100000"/>
          </a:gradFill>
          <a:ln w="12700"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455049" tIns="364040" rIns="455049" bIns="364040" numCol="1" spcCol="0" rtlCol="0" fromWordArt="0" anchor="ctr" anchorCtr="0" forceAA="0" compatLnSpc="1">
            <a:prstTxWarp prst="textNoShape">
              <a:avLst/>
            </a:prstTxWarp>
            <a:noAutofit/>
          </a:bodyPr>
          <a:lstStyle/>
          <a:p>
            <a:pPr algn="ctr" defTabSz="2320060" fontAlgn="base">
              <a:spcBef>
                <a:spcPct val="0"/>
              </a:spcBef>
              <a:spcAft>
                <a:spcPct val="0"/>
              </a:spcAft>
            </a:pPr>
            <a:endParaRPr lang="en-US" kern="0" err="1">
              <a:noFill/>
              <a:latin typeface="Segoe UI" panose="020B0502040204020203" pitchFamily="34" charset="0"/>
              <a:cs typeface="Segoe UI" panose="020B0502040204020203" pitchFamily="34" charset="0"/>
            </a:endParaRPr>
          </a:p>
        </p:txBody>
      </p:sp>
      <p:sp>
        <p:nvSpPr>
          <p:cNvPr id="55" name="Rounded Rectangle 12">
            <a:extLst>
              <a:ext uri="{FF2B5EF4-FFF2-40B4-BE49-F238E27FC236}">
                <a16:creationId xmlns:a16="http://schemas.microsoft.com/office/drawing/2014/main" id="{EE8A64AF-DA66-F908-4452-9DDF251FE958}"/>
              </a:ext>
              <a:ext uri="{C183D7F6-B498-43B3-948B-1728B52AA6E4}">
                <adec:decorative xmlns:adec="http://schemas.microsoft.com/office/drawing/2017/decorative" val="1"/>
              </a:ext>
            </a:extLst>
          </p:cNvPr>
          <p:cNvSpPr/>
          <p:nvPr/>
        </p:nvSpPr>
        <p:spPr bwMode="auto">
          <a:xfrm>
            <a:off x="4485366" y="1685816"/>
            <a:ext cx="3221269" cy="2533220"/>
          </a:xfrm>
          <a:prstGeom prst="roundRect">
            <a:avLst>
              <a:gd name="adj" fmla="val 12124"/>
            </a:avLst>
          </a:prstGeom>
          <a:gradFill flip="none" rotWithShape="1">
            <a:gsLst>
              <a:gs pos="80000">
                <a:srgbClr val="A9D5ED">
                  <a:alpha val="10000"/>
                </a:srgbClr>
              </a:gs>
              <a:gs pos="0">
                <a:srgbClr val="FFC6CC">
                  <a:alpha val="10000"/>
                </a:srgbClr>
              </a:gs>
            </a:gsLst>
            <a:path path="circle">
              <a:fillToRect l="100000" t="100000"/>
            </a:path>
            <a:tileRect r="-100000" b="-100000"/>
          </a:gradFill>
          <a:ln w="12700"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455049" tIns="364040" rIns="455049" bIns="364040" numCol="1" spcCol="0" rtlCol="0" fromWordArt="0" anchor="ctr" anchorCtr="0" forceAA="0" compatLnSpc="1">
            <a:prstTxWarp prst="textNoShape">
              <a:avLst/>
            </a:prstTxWarp>
            <a:noAutofit/>
          </a:bodyPr>
          <a:lstStyle/>
          <a:p>
            <a:pPr algn="ctr" defTabSz="2320060" fontAlgn="base">
              <a:spcBef>
                <a:spcPct val="0"/>
              </a:spcBef>
              <a:spcAft>
                <a:spcPct val="0"/>
              </a:spcAft>
            </a:pPr>
            <a:endParaRPr lang="en-US" kern="0">
              <a:noFill/>
              <a:latin typeface="Segoe UI" panose="020B0502040204020203" pitchFamily="34" charset="0"/>
              <a:cs typeface="Segoe UI" panose="020B0502040204020203" pitchFamily="34" charset="0"/>
            </a:endParaRPr>
          </a:p>
        </p:txBody>
      </p:sp>
      <p:sp>
        <p:nvSpPr>
          <p:cNvPr id="56" name="Rounded Rectangle 12">
            <a:extLst>
              <a:ext uri="{FF2B5EF4-FFF2-40B4-BE49-F238E27FC236}">
                <a16:creationId xmlns:a16="http://schemas.microsoft.com/office/drawing/2014/main" id="{EB525105-957C-E12C-5E9F-9AA92B3B0E0B}"/>
              </a:ext>
              <a:ext uri="{C183D7F6-B498-43B3-948B-1728B52AA6E4}">
                <adec:decorative xmlns:adec="http://schemas.microsoft.com/office/drawing/2017/decorative" val="1"/>
              </a:ext>
            </a:extLst>
          </p:cNvPr>
          <p:cNvSpPr/>
          <p:nvPr/>
        </p:nvSpPr>
        <p:spPr bwMode="auto">
          <a:xfrm>
            <a:off x="1049966" y="2279122"/>
            <a:ext cx="2746535" cy="1939914"/>
          </a:xfrm>
          <a:prstGeom prst="roundRect">
            <a:avLst>
              <a:gd name="adj" fmla="val 17098"/>
            </a:avLst>
          </a:prstGeom>
          <a:gradFill flip="none" rotWithShape="1">
            <a:gsLst>
              <a:gs pos="80000">
                <a:srgbClr val="A9D5ED">
                  <a:alpha val="10000"/>
                </a:srgbClr>
              </a:gs>
              <a:gs pos="0">
                <a:srgbClr val="FFC6CC">
                  <a:alpha val="10000"/>
                </a:srgbClr>
              </a:gs>
            </a:gsLst>
            <a:path path="circle">
              <a:fillToRect l="100000" t="100000"/>
            </a:path>
            <a:tileRect r="-100000" b="-100000"/>
          </a:gradFill>
          <a:ln w="12700"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455049" tIns="364040" rIns="455049" bIns="364040" numCol="1" spcCol="0" rtlCol="0" fromWordArt="0" anchor="ctr" anchorCtr="0" forceAA="0" compatLnSpc="1">
            <a:prstTxWarp prst="textNoShape">
              <a:avLst/>
            </a:prstTxWarp>
            <a:noAutofit/>
          </a:bodyPr>
          <a:lstStyle/>
          <a:p>
            <a:pPr algn="ctr" defTabSz="2320060" fontAlgn="base">
              <a:spcBef>
                <a:spcPct val="0"/>
              </a:spcBef>
              <a:spcAft>
                <a:spcPct val="0"/>
              </a:spcAft>
            </a:pPr>
            <a:endParaRPr lang="en-US" kern="0" err="1">
              <a:noFill/>
              <a:latin typeface="Segoe UI" panose="020B0502040204020203" pitchFamily="34" charset="0"/>
              <a:cs typeface="Segoe UI" panose="020B0502040204020203" pitchFamily="34" charset="0"/>
            </a:endParaRPr>
          </a:p>
        </p:txBody>
      </p:sp>
      <p:sp>
        <p:nvSpPr>
          <p:cNvPr id="57" name="Rounded Rectangle 12">
            <a:extLst>
              <a:ext uri="{FF2B5EF4-FFF2-40B4-BE49-F238E27FC236}">
                <a16:creationId xmlns:a16="http://schemas.microsoft.com/office/drawing/2014/main" id="{199F75E5-DF32-A65D-3090-1785468FA5AC}"/>
              </a:ext>
              <a:ext uri="{C183D7F6-B498-43B3-948B-1728B52AA6E4}">
                <adec:decorative xmlns:adec="http://schemas.microsoft.com/office/drawing/2017/decorative" val="1"/>
              </a:ext>
            </a:extLst>
          </p:cNvPr>
          <p:cNvSpPr/>
          <p:nvPr/>
        </p:nvSpPr>
        <p:spPr bwMode="auto">
          <a:xfrm>
            <a:off x="4485366" y="4724901"/>
            <a:ext cx="3221269" cy="1675899"/>
          </a:xfrm>
          <a:prstGeom prst="roundRect">
            <a:avLst>
              <a:gd name="adj" fmla="val 18080"/>
            </a:avLst>
          </a:prstGeom>
          <a:gradFill flip="none" rotWithShape="1">
            <a:gsLst>
              <a:gs pos="80000">
                <a:srgbClr val="A9D5ED">
                  <a:alpha val="10000"/>
                </a:srgbClr>
              </a:gs>
              <a:gs pos="0">
                <a:srgbClr val="FFC6CC">
                  <a:alpha val="10000"/>
                </a:srgbClr>
              </a:gs>
            </a:gsLst>
            <a:path path="circle">
              <a:fillToRect l="100000" t="100000"/>
            </a:path>
            <a:tileRect r="-100000" b="-100000"/>
          </a:gradFill>
          <a:ln w="12700"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455049" tIns="364040" rIns="455049" bIns="364040" numCol="1" spcCol="0" rtlCol="0" fromWordArt="0" anchor="ctr" anchorCtr="0" forceAA="0" compatLnSpc="1">
            <a:prstTxWarp prst="textNoShape">
              <a:avLst/>
            </a:prstTxWarp>
            <a:noAutofit/>
          </a:bodyPr>
          <a:lstStyle/>
          <a:p>
            <a:pPr algn="ctr" defTabSz="2320060" fontAlgn="base">
              <a:spcBef>
                <a:spcPct val="0"/>
              </a:spcBef>
              <a:spcAft>
                <a:spcPct val="0"/>
              </a:spcAft>
            </a:pPr>
            <a:endParaRPr lang="en-US" kern="0" err="1">
              <a:noFill/>
              <a:latin typeface="Segoe UI" panose="020B0502040204020203" pitchFamily="34" charset="0"/>
              <a:cs typeface="Segoe UI" panose="020B0502040204020203" pitchFamily="34" charset="0"/>
            </a:endParaRPr>
          </a:p>
        </p:txBody>
      </p:sp>
      <p:grpSp>
        <p:nvGrpSpPr>
          <p:cNvPr id="61" name="Group 60">
            <a:extLst>
              <a:ext uri="{FF2B5EF4-FFF2-40B4-BE49-F238E27FC236}">
                <a16:creationId xmlns:a16="http://schemas.microsoft.com/office/drawing/2014/main" id="{07860FE1-95C2-48D7-73EE-0B87D063D654}"/>
              </a:ext>
              <a:ext uri="{C183D7F6-B498-43B3-948B-1728B52AA6E4}">
                <adec:decorative xmlns:adec="http://schemas.microsoft.com/office/drawing/2017/decorative" val="1"/>
              </a:ext>
            </a:extLst>
          </p:cNvPr>
          <p:cNvGrpSpPr/>
          <p:nvPr/>
        </p:nvGrpSpPr>
        <p:grpSpPr>
          <a:xfrm>
            <a:off x="3653596" y="2958361"/>
            <a:ext cx="4899118" cy="339489"/>
            <a:chOff x="3653596" y="3052051"/>
            <a:chExt cx="4899118" cy="339489"/>
          </a:xfrm>
        </p:grpSpPr>
        <p:sp useBgFill="1">
          <p:nvSpPr>
            <p:cNvPr id="62" name="Rectangle 61">
              <a:extLst>
                <a:ext uri="{FF2B5EF4-FFF2-40B4-BE49-F238E27FC236}">
                  <a16:creationId xmlns:a16="http://schemas.microsoft.com/office/drawing/2014/main" id="{4386B1A1-ADAF-B6FA-EE11-5D0E0C3D7DA9}"/>
                </a:ext>
              </a:extLst>
            </p:cNvPr>
            <p:cNvSpPr/>
            <p:nvPr/>
          </p:nvSpPr>
          <p:spPr bwMode="auto">
            <a:xfrm>
              <a:off x="3653596" y="3052051"/>
              <a:ext cx="939506" cy="339489"/>
            </a:xfrm>
            <a:prstGeom prst="rect">
              <a:avLst/>
            </a:prstGeom>
            <a:solidFill>
              <a:srgbClr val="0078D4">
                <a:shade val="80000"/>
                <a:satMod val="18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sp useBgFill="1">
          <p:nvSpPr>
            <p:cNvPr id="63" name="Rectangle 62">
              <a:extLst>
                <a:ext uri="{FF2B5EF4-FFF2-40B4-BE49-F238E27FC236}">
                  <a16:creationId xmlns:a16="http://schemas.microsoft.com/office/drawing/2014/main" id="{CD21F3D4-3A64-4F6F-0506-1BD861DBECB5}"/>
                </a:ext>
              </a:extLst>
            </p:cNvPr>
            <p:cNvSpPr/>
            <p:nvPr/>
          </p:nvSpPr>
          <p:spPr bwMode="auto">
            <a:xfrm>
              <a:off x="7613208" y="3052051"/>
              <a:ext cx="939506" cy="339489"/>
            </a:xfrm>
            <a:prstGeom prst="rect">
              <a:avLst/>
            </a:prstGeom>
            <a:solidFill>
              <a:srgbClr val="0078D4">
                <a:shade val="80000"/>
                <a:satMod val="18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grpSp>
      <p:grpSp>
        <p:nvGrpSpPr>
          <p:cNvPr id="58" name="Group 57">
            <a:extLst>
              <a:ext uri="{FF2B5EF4-FFF2-40B4-BE49-F238E27FC236}">
                <a16:creationId xmlns:a16="http://schemas.microsoft.com/office/drawing/2014/main" id="{4EA94FCB-FAB0-8462-CFF8-7492A168058C}"/>
              </a:ext>
              <a:ext uri="{C183D7F6-B498-43B3-948B-1728B52AA6E4}">
                <adec:decorative xmlns:adec="http://schemas.microsoft.com/office/drawing/2017/decorative" val="1"/>
              </a:ext>
            </a:extLst>
          </p:cNvPr>
          <p:cNvGrpSpPr/>
          <p:nvPr/>
        </p:nvGrpSpPr>
        <p:grpSpPr>
          <a:xfrm>
            <a:off x="5124038" y="4029260"/>
            <a:ext cx="1943924" cy="1007671"/>
            <a:chOff x="5108290" y="4122950"/>
            <a:chExt cx="1943924" cy="1007671"/>
          </a:xfrm>
        </p:grpSpPr>
        <p:sp useBgFill="1">
          <p:nvSpPr>
            <p:cNvPr id="59" name="Rectangle 58">
              <a:extLst>
                <a:ext uri="{FF2B5EF4-FFF2-40B4-BE49-F238E27FC236}">
                  <a16:creationId xmlns:a16="http://schemas.microsoft.com/office/drawing/2014/main" id="{ABD344A1-AF45-4F02-4980-764A3BAB602A}"/>
                </a:ext>
              </a:extLst>
            </p:cNvPr>
            <p:cNvSpPr/>
            <p:nvPr/>
          </p:nvSpPr>
          <p:spPr bwMode="auto">
            <a:xfrm>
              <a:off x="5108290" y="4122950"/>
              <a:ext cx="248864" cy="1007671"/>
            </a:xfrm>
            <a:prstGeom prst="rect">
              <a:avLst/>
            </a:prstGeom>
            <a:solidFill>
              <a:srgbClr val="0078D4">
                <a:shade val="80000"/>
                <a:satMod val="18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sp useBgFill="1">
          <p:nvSpPr>
            <p:cNvPr id="60" name="Rectangle 59">
              <a:extLst>
                <a:ext uri="{FF2B5EF4-FFF2-40B4-BE49-F238E27FC236}">
                  <a16:creationId xmlns:a16="http://schemas.microsoft.com/office/drawing/2014/main" id="{4DA96352-F486-910C-08F9-ECAA1F59A0D9}"/>
                </a:ext>
              </a:extLst>
            </p:cNvPr>
            <p:cNvSpPr/>
            <p:nvPr/>
          </p:nvSpPr>
          <p:spPr bwMode="auto">
            <a:xfrm>
              <a:off x="6803351" y="4122950"/>
              <a:ext cx="248863" cy="1007671"/>
            </a:xfrm>
            <a:prstGeom prst="rect">
              <a:avLst/>
            </a:prstGeom>
            <a:solidFill>
              <a:srgbClr val="0078D4">
                <a:shade val="80000"/>
                <a:satMod val="18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sp>
        <p:nvSpPr>
          <p:cNvPr id="73" name="TextBox 72">
            <a:extLst>
              <a:ext uri="{FF2B5EF4-FFF2-40B4-BE49-F238E27FC236}">
                <a16:creationId xmlns:a16="http://schemas.microsoft.com/office/drawing/2014/main" id="{1F71E06A-BD64-E88D-6EE0-ED9BB204ADA0}"/>
              </a:ext>
            </a:extLst>
          </p:cNvPr>
          <p:cNvSpPr txBox="1"/>
          <p:nvPr/>
        </p:nvSpPr>
        <p:spPr>
          <a:xfrm>
            <a:off x="1614494" y="2526093"/>
            <a:ext cx="1538343" cy="276999"/>
          </a:xfrm>
          <a:prstGeom prst="rect">
            <a:avLst/>
          </a:prstGeom>
          <a:noFill/>
          <a:effectLst/>
        </p:spPr>
        <p:txBody>
          <a:bodyPr wrap="square" lIns="0" tIns="0" rIns="0" bIns="0" rtlCol="0" anchor="t" anchorCtr="0">
            <a:spAutoFit/>
          </a:bodyPr>
          <a:lstStyle/>
          <a:p>
            <a:pPr algn="ctr" defTabSz="1371600">
              <a:tabLst>
                <a:tab pos="1371600" algn="l"/>
              </a:tabLst>
              <a:defRPr/>
            </a:pPr>
            <a:r>
              <a:rPr lang="en-US" b="1">
                <a:ln w="3175">
                  <a:noFill/>
                </a:ln>
                <a:solidFill>
                  <a:srgbClr val="000000"/>
                </a:solidFill>
                <a:latin typeface="Segoe Sans Display Semibold" pitchFamily="2" charset="0"/>
                <a:cs typeface="Segoe Sans Display Semibold" pitchFamily="2" charset="0"/>
              </a:rPr>
              <a:t>Input</a:t>
            </a:r>
          </a:p>
        </p:txBody>
      </p:sp>
      <p:grpSp>
        <p:nvGrpSpPr>
          <p:cNvPr id="74" name="Group 73" descr="System&#10;events">
            <a:extLst>
              <a:ext uri="{FF2B5EF4-FFF2-40B4-BE49-F238E27FC236}">
                <a16:creationId xmlns:a16="http://schemas.microsoft.com/office/drawing/2014/main" id="{360E09A4-3F94-A1BF-2CFF-EF304A570A0D}"/>
              </a:ext>
              <a:ext uri="{C183D7F6-B498-43B3-948B-1728B52AA6E4}">
                <adec:decorative xmlns:adec="http://schemas.microsoft.com/office/drawing/2017/decorative" val="0"/>
              </a:ext>
            </a:extLst>
          </p:cNvPr>
          <p:cNvGrpSpPr/>
          <p:nvPr/>
        </p:nvGrpSpPr>
        <p:grpSpPr>
          <a:xfrm>
            <a:off x="1187581" y="2963847"/>
            <a:ext cx="759182" cy="1120812"/>
            <a:chOff x="1003994" y="2623632"/>
            <a:chExt cx="759182" cy="1120812"/>
          </a:xfrm>
        </p:grpSpPr>
        <p:pic>
          <p:nvPicPr>
            <p:cNvPr id="78" name="Picture 77">
              <a:extLst>
                <a:ext uri="{FF2B5EF4-FFF2-40B4-BE49-F238E27FC236}">
                  <a16:creationId xmlns:a16="http://schemas.microsoft.com/office/drawing/2014/main" id="{00544AD4-2719-1690-4EA7-92AFB2614AE4}"/>
                </a:ext>
              </a:extLst>
            </p:cNvPr>
            <p:cNvPicPr>
              <a:picLocks noChangeAspect="1"/>
            </p:cNvPicPr>
            <p:nvPr/>
          </p:nvPicPr>
          <p:blipFill>
            <a:blip r:embed="rId3"/>
            <a:stretch>
              <a:fillRect/>
            </a:stretch>
          </p:blipFill>
          <p:spPr>
            <a:xfrm>
              <a:off x="1110283" y="2623632"/>
              <a:ext cx="566014" cy="566014"/>
            </a:xfrm>
            <a:prstGeom prst="rect">
              <a:avLst/>
            </a:prstGeom>
            <a:effectLst>
              <a:outerShdw blurRad="50800" dist="38100" dir="2700000" algn="tl" rotWithShape="0">
                <a:prstClr val="black">
                  <a:alpha val="10000"/>
                </a:prstClr>
              </a:outerShdw>
            </a:effectLst>
          </p:spPr>
        </p:pic>
        <p:sp>
          <p:nvSpPr>
            <p:cNvPr id="79" name="TextBox 78">
              <a:extLst>
                <a:ext uri="{FF2B5EF4-FFF2-40B4-BE49-F238E27FC236}">
                  <a16:creationId xmlns:a16="http://schemas.microsoft.com/office/drawing/2014/main" id="{C7A9A536-49D7-24BC-0C82-AFD2CB4D152C}"/>
                </a:ext>
              </a:extLst>
            </p:cNvPr>
            <p:cNvSpPr txBox="1"/>
            <p:nvPr/>
          </p:nvSpPr>
          <p:spPr>
            <a:xfrm>
              <a:off x="1003994" y="3264313"/>
              <a:ext cx="759182" cy="480131"/>
            </a:xfrm>
            <a:prstGeom prst="rect">
              <a:avLst/>
            </a:prstGeom>
            <a:noFill/>
          </p:spPr>
          <p:txBody>
            <a:bodyPr wrap="none" rtlCol="0">
              <a:spAutoFit/>
            </a:bodyPr>
            <a:lstStyle/>
            <a:p>
              <a:pPr algn="ctr">
                <a:lnSpc>
                  <a:spcPct val="90000"/>
                </a:lnSpc>
                <a:defRPr/>
              </a:pPr>
              <a:r>
                <a:rPr lang="en-US" sz="1400" dirty="0">
                  <a:solidFill>
                    <a:srgbClr val="000000"/>
                  </a:solidFill>
                  <a:cs typeface="Segoe Sans Display" pitchFamily="2" charset="0"/>
                </a:rPr>
                <a:t>System</a:t>
              </a:r>
              <a:br>
                <a:rPr lang="en-US" sz="1400" dirty="0">
                  <a:solidFill>
                    <a:srgbClr val="000000"/>
                  </a:solidFill>
                  <a:cs typeface="Segoe Sans Display" pitchFamily="2" charset="0"/>
                </a:rPr>
              </a:br>
              <a:r>
                <a:rPr lang="en-US" sz="1400" dirty="0">
                  <a:solidFill>
                    <a:srgbClr val="000000"/>
                  </a:solidFill>
                  <a:cs typeface="Segoe Sans Display" pitchFamily="2" charset="0"/>
                </a:rPr>
                <a:t>events</a:t>
              </a:r>
            </a:p>
          </p:txBody>
        </p:sp>
      </p:grpSp>
      <p:grpSp>
        <p:nvGrpSpPr>
          <p:cNvPr id="80" name="Group 79" descr="User&#10;messages">
            <a:extLst>
              <a:ext uri="{FF2B5EF4-FFF2-40B4-BE49-F238E27FC236}">
                <a16:creationId xmlns:a16="http://schemas.microsoft.com/office/drawing/2014/main" id="{2C890252-CA5F-82E7-2576-1432133ED9B1}"/>
              </a:ext>
              <a:ext uri="{C183D7F6-B498-43B3-948B-1728B52AA6E4}">
                <adec:decorative xmlns:adec="http://schemas.microsoft.com/office/drawing/2017/decorative" val="0"/>
              </a:ext>
            </a:extLst>
          </p:cNvPr>
          <p:cNvGrpSpPr/>
          <p:nvPr/>
        </p:nvGrpSpPr>
        <p:grpSpPr>
          <a:xfrm>
            <a:off x="1900377" y="2963847"/>
            <a:ext cx="957313" cy="1120812"/>
            <a:chOff x="1716790" y="2623632"/>
            <a:chExt cx="957313" cy="1120812"/>
          </a:xfrm>
        </p:grpSpPr>
        <p:sp>
          <p:nvSpPr>
            <p:cNvPr id="81" name="TextBox 80">
              <a:extLst>
                <a:ext uri="{FF2B5EF4-FFF2-40B4-BE49-F238E27FC236}">
                  <a16:creationId xmlns:a16="http://schemas.microsoft.com/office/drawing/2014/main" id="{6ED0A14B-1BF2-2747-BCD4-143108C412CA}"/>
                </a:ext>
              </a:extLst>
            </p:cNvPr>
            <p:cNvSpPr txBox="1"/>
            <p:nvPr/>
          </p:nvSpPr>
          <p:spPr>
            <a:xfrm>
              <a:off x="1716790" y="3264313"/>
              <a:ext cx="957313" cy="480131"/>
            </a:xfrm>
            <a:prstGeom prst="rect">
              <a:avLst/>
            </a:prstGeom>
            <a:noFill/>
          </p:spPr>
          <p:txBody>
            <a:bodyPr wrap="none" rtlCol="0">
              <a:spAutoFit/>
            </a:bodyPr>
            <a:lstStyle/>
            <a:p>
              <a:pPr algn="ctr">
                <a:lnSpc>
                  <a:spcPct val="90000"/>
                </a:lnSpc>
                <a:defRPr/>
              </a:pPr>
              <a:r>
                <a:rPr lang="en-US" sz="1400" dirty="0">
                  <a:solidFill>
                    <a:srgbClr val="000000"/>
                  </a:solidFill>
                  <a:cs typeface="Segoe Sans Display" pitchFamily="2" charset="0"/>
                </a:rPr>
                <a:t>User</a:t>
              </a:r>
              <a:br>
                <a:rPr lang="en-US" sz="1400" dirty="0">
                  <a:solidFill>
                    <a:srgbClr val="000000"/>
                  </a:solidFill>
                  <a:cs typeface="Segoe Sans Display" pitchFamily="2" charset="0"/>
                </a:rPr>
              </a:br>
              <a:r>
                <a:rPr lang="en-US" sz="1400" dirty="0">
                  <a:solidFill>
                    <a:srgbClr val="000000"/>
                  </a:solidFill>
                  <a:cs typeface="Segoe Sans Display" pitchFamily="2" charset="0"/>
                </a:rPr>
                <a:t>messages</a:t>
              </a:r>
            </a:p>
          </p:txBody>
        </p:sp>
        <p:pic>
          <p:nvPicPr>
            <p:cNvPr id="82" name="Picture 81">
              <a:extLst>
                <a:ext uri="{FF2B5EF4-FFF2-40B4-BE49-F238E27FC236}">
                  <a16:creationId xmlns:a16="http://schemas.microsoft.com/office/drawing/2014/main" id="{BC951F54-6991-4EB4-9DF9-7E9F8D20ECD4}"/>
                </a:ext>
              </a:extLst>
            </p:cNvPr>
            <p:cNvPicPr>
              <a:picLocks noChangeAspect="1"/>
            </p:cNvPicPr>
            <p:nvPr/>
          </p:nvPicPr>
          <p:blipFill>
            <a:blip r:embed="rId4"/>
            <a:stretch>
              <a:fillRect/>
            </a:stretch>
          </p:blipFill>
          <p:spPr>
            <a:xfrm>
              <a:off x="1908868" y="2623632"/>
              <a:ext cx="566014" cy="566014"/>
            </a:xfrm>
            <a:prstGeom prst="rect">
              <a:avLst/>
            </a:prstGeom>
            <a:effectLst>
              <a:outerShdw blurRad="50800" dist="38100" dir="2700000" algn="tl" rotWithShape="0">
                <a:prstClr val="black">
                  <a:alpha val="10000"/>
                </a:prstClr>
              </a:outerShdw>
            </a:effectLst>
          </p:spPr>
        </p:pic>
      </p:grpSp>
      <p:grpSp>
        <p:nvGrpSpPr>
          <p:cNvPr id="98" name="Group 97" descr="Agent&#10;messages">
            <a:extLst>
              <a:ext uri="{FF2B5EF4-FFF2-40B4-BE49-F238E27FC236}">
                <a16:creationId xmlns:a16="http://schemas.microsoft.com/office/drawing/2014/main" id="{7CC55570-832C-B382-015A-B31E3AC3102B}"/>
              </a:ext>
              <a:ext uri="{C183D7F6-B498-43B3-948B-1728B52AA6E4}">
                <adec:decorative xmlns:adec="http://schemas.microsoft.com/office/drawing/2017/decorative" val="0"/>
              </a:ext>
            </a:extLst>
          </p:cNvPr>
          <p:cNvGrpSpPr/>
          <p:nvPr/>
        </p:nvGrpSpPr>
        <p:grpSpPr>
          <a:xfrm>
            <a:off x="2752388" y="2913570"/>
            <a:ext cx="957313" cy="1171089"/>
            <a:chOff x="2568801" y="2573355"/>
            <a:chExt cx="957313" cy="1171089"/>
          </a:xfrm>
        </p:grpSpPr>
        <p:sp>
          <p:nvSpPr>
            <p:cNvPr id="99" name="TextBox 98">
              <a:extLst>
                <a:ext uri="{FF2B5EF4-FFF2-40B4-BE49-F238E27FC236}">
                  <a16:creationId xmlns:a16="http://schemas.microsoft.com/office/drawing/2014/main" id="{07B7E4FF-F2F4-86A3-124D-54B1DA457791}"/>
                </a:ext>
              </a:extLst>
            </p:cNvPr>
            <p:cNvSpPr txBox="1"/>
            <p:nvPr/>
          </p:nvSpPr>
          <p:spPr>
            <a:xfrm>
              <a:off x="2568801" y="3264313"/>
              <a:ext cx="957313" cy="480131"/>
            </a:xfrm>
            <a:prstGeom prst="rect">
              <a:avLst/>
            </a:prstGeom>
            <a:noFill/>
          </p:spPr>
          <p:txBody>
            <a:bodyPr wrap="none" rtlCol="0">
              <a:spAutoFit/>
            </a:bodyPr>
            <a:lstStyle/>
            <a:p>
              <a:pPr algn="ctr">
                <a:lnSpc>
                  <a:spcPct val="90000"/>
                </a:lnSpc>
                <a:defRPr/>
              </a:pPr>
              <a:r>
                <a:rPr lang="en-US" sz="1400" dirty="0">
                  <a:solidFill>
                    <a:srgbClr val="000000"/>
                  </a:solidFill>
                  <a:cs typeface="Segoe Sans Display" pitchFamily="2" charset="0"/>
                </a:rPr>
                <a:t>Agent</a:t>
              </a:r>
              <a:br>
                <a:rPr lang="en-US" sz="1400" dirty="0">
                  <a:solidFill>
                    <a:srgbClr val="000000"/>
                  </a:solidFill>
                  <a:cs typeface="Segoe Sans Display" pitchFamily="2" charset="0"/>
                </a:rPr>
              </a:br>
              <a:r>
                <a:rPr lang="en-US" sz="1400" dirty="0">
                  <a:solidFill>
                    <a:srgbClr val="000000"/>
                  </a:solidFill>
                  <a:cs typeface="Segoe Sans Display" pitchFamily="2" charset="0"/>
                </a:rPr>
                <a:t>messages</a:t>
              </a:r>
            </a:p>
          </p:txBody>
        </p:sp>
        <p:pic>
          <p:nvPicPr>
            <p:cNvPr id="100" name="Picture 99" descr="A colorful hexagon with stars&#10;&#10;Description automatically generated">
              <a:extLst>
                <a:ext uri="{FF2B5EF4-FFF2-40B4-BE49-F238E27FC236}">
                  <a16:creationId xmlns:a16="http://schemas.microsoft.com/office/drawing/2014/main" id="{2BAAB930-2857-96E3-0B18-C354446D974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82955" y="2573355"/>
              <a:ext cx="714360" cy="714360"/>
            </a:xfrm>
            <a:prstGeom prst="rect">
              <a:avLst/>
            </a:prstGeom>
          </p:spPr>
        </p:pic>
      </p:grpSp>
      <p:cxnSp>
        <p:nvCxnSpPr>
          <p:cNvPr id="96" name="Straight Arrow Connector 95">
            <a:extLst>
              <a:ext uri="{FF2B5EF4-FFF2-40B4-BE49-F238E27FC236}">
                <a16:creationId xmlns:a16="http://schemas.microsoft.com/office/drawing/2014/main" id="{5DD77E7E-C6B7-8252-D5D5-CB5735F37643}"/>
              </a:ext>
              <a:ext uri="{C183D7F6-B498-43B3-948B-1728B52AA6E4}">
                <adec:decorative xmlns:adec="http://schemas.microsoft.com/office/drawing/2017/decorative" val="1"/>
              </a:ext>
            </a:extLst>
          </p:cNvPr>
          <p:cNvCxnSpPr>
            <a:cxnSpLocks/>
          </p:cNvCxnSpPr>
          <p:nvPr/>
        </p:nvCxnSpPr>
        <p:spPr>
          <a:xfrm>
            <a:off x="3653596" y="3128106"/>
            <a:ext cx="1023912" cy="6460"/>
          </a:xfrm>
          <a:prstGeom prst="straightConnector1">
            <a:avLst/>
          </a:prstGeom>
          <a:noFill/>
          <a:ln w="12700" cap="flat" cmpd="sng" algn="ctr">
            <a:gradFill flip="none" rotWithShape="1">
              <a:gsLst>
                <a:gs pos="0">
                  <a:srgbClr val="463668">
                    <a:alpha val="0"/>
                  </a:srgbClr>
                </a:gs>
                <a:gs pos="100000">
                  <a:srgbClr val="000000"/>
                </a:gs>
              </a:gsLst>
              <a:lin ang="0" scaled="1"/>
              <a:tileRect/>
            </a:gradFill>
            <a:prstDash val="solid"/>
            <a:headEnd type="none" w="lg" len="med"/>
            <a:tailEnd type="arrow" w="lg" len="sm"/>
          </a:ln>
          <a:effectLst/>
        </p:spPr>
      </p:cxnSp>
      <p:pic>
        <p:nvPicPr>
          <p:cNvPr id="97" name="Picture 96" descr="A colorful hexagon with stars">
            <a:extLst>
              <a:ext uri="{FF2B5EF4-FFF2-40B4-BE49-F238E27FC236}">
                <a16:creationId xmlns:a16="http://schemas.microsoft.com/office/drawing/2014/main" id="{4BA3A12E-2ED8-0671-9D3F-912629548C3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38820" y="1174250"/>
            <a:ext cx="714360" cy="714360"/>
          </a:xfrm>
          <a:prstGeom prst="rect">
            <a:avLst/>
          </a:prstGeom>
        </p:spPr>
      </p:pic>
      <p:sp>
        <p:nvSpPr>
          <p:cNvPr id="71" name="TextBox 70">
            <a:extLst>
              <a:ext uri="{FF2B5EF4-FFF2-40B4-BE49-F238E27FC236}">
                <a16:creationId xmlns:a16="http://schemas.microsoft.com/office/drawing/2014/main" id="{B29B57A0-D2EC-4559-481C-23BB77CCA91D}"/>
              </a:ext>
            </a:extLst>
          </p:cNvPr>
          <p:cNvSpPr txBox="1"/>
          <p:nvPr/>
        </p:nvSpPr>
        <p:spPr>
          <a:xfrm>
            <a:off x="5326829" y="1819241"/>
            <a:ext cx="1538343" cy="369332"/>
          </a:xfrm>
          <a:prstGeom prst="rect">
            <a:avLst/>
          </a:prstGeom>
          <a:noFill/>
          <a:effectLst/>
        </p:spPr>
        <p:txBody>
          <a:bodyPr wrap="square" lIns="0" tIns="0" rIns="0" bIns="0" rtlCol="0" anchor="t" anchorCtr="0">
            <a:spAutoFit/>
          </a:bodyPr>
          <a:lstStyle/>
          <a:p>
            <a:pPr algn="ctr" defTabSz="1371600">
              <a:tabLst>
                <a:tab pos="1371600" algn="l"/>
              </a:tabLst>
              <a:defRPr/>
            </a:pPr>
            <a:r>
              <a:rPr lang="en-US" sz="2400" b="1">
                <a:ln w="3175">
                  <a:noFill/>
                </a:ln>
                <a:solidFill>
                  <a:srgbClr val="000000"/>
                </a:solidFill>
                <a:latin typeface="Segoe Sans Display Semibold" pitchFamily="2" charset="0"/>
                <a:cs typeface="Segoe Sans Display Semibold" pitchFamily="2" charset="0"/>
              </a:rPr>
              <a:t>Agent</a:t>
            </a:r>
          </a:p>
        </p:txBody>
      </p:sp>
      <p:sp>
        <p:nvSpPr>
          <p:cNvPr id="64" name="Rectangle: Rounded Corners 12">
            <a:extLst>
              <a:ext uri="{FF2B5EF4-FFF2-40B4-BE49-F238E27FC236}">
                <a16:creationId xmlns:a16="http://schemas.microsoft.com/office/drawing/2014/main" id="{DD15A7E6-8EA7-AD7B-3D43-8F3F7A99F936}"/>
              </a:ext>
              <a:ext uri="{C183D7F6-B498-43B3-948B-1728B52AA6E4}">
                <adec:decorative xmlns:adec="http://schemas.microsoft.com/office/drawing/2017/decorative" val="0"/>
              </a:ext>
            </a:extLst>
          </p:cNvPr>
          <p:cNvSpPr txBox="1">
            <a:spLocks/>
          </p:cNvSpPr>
          <p:nvPr/>
        </p:nvSpPr>
        <p:spPr bwMode="auto">
          <a:xfrm>
            <a:off x="4956744" y="2360482"/>
            <a:ext cx="2282458" cy="369332"/>
          </a:xfrm>
          <a:prstGeom prst="roundRect">
            <a:avLst>
              <a:gd name="adj" fmla="val 31494"/>
            </a:avLst>
          </a:prstGeom>
          <a:solidFill>
            <a:srgbClr val="C03BC4"/>
          </a:solid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a:defRPr/>
            </a:pPr>
            <a:r>
              <a:rPr lang="en-US" sz="1600" b="0">
                <a:solidFill>
                  <a:srgbClr val="000000"/>
                </a:solidFill>
                <a:latin typeface="Segoe Sans Display" pitchFamily="2" charset="0"/>
                <a:cs typeface="Segoe Sans Display" pitchFamily="2" charset="0"/>
              </a:rPr>
              <a:t>LLM</a:t>
            </a:r>
          </a:p>
        </p:txBody>
      </p:sp>
      <p:sp>
        <p:nvSpPr>
          <p:cNvPr id="65" name="Rectangle: Rounded Corners 12">
            <a:extLst>
              <a:ext uri="{FF2B5EF4-FFF2-40B4-BE49-F238E27FC236}">
                <a16:creationId xmlns:a16="http://schemas.microsoft.com/office/drawing/2014/main" id="{D3372E46-5443-A4E9-A248-D73DD0E3A5A3}"/>
              </a:ext>
              <a:ext uri="{C183D7F6-B498-43B3-948B-1728B52AA6E4}">
                <adec:decorative xmlns:adec="http://schemas.microsoft.com/office/drawing/2017/decorative" val="0"/>
              </a:ext>
            </a:extLst>
          </p:cNvPr>
          <p:cNvSpPr txBox="1">
            <a:spLocks/>
          </p:cNvSpPr>
          <p:nvPr/>
        </p:nvSpPr>
        <p:spPr bwMode="auto">
          <a:xfrm>
            <a:off x="4956744" y="2928518"/>
            <a:ext cx="2282458" cy="369332"/>
          </a:xfrm>
          <a:prstGeom prst="roundRect">
            <a:avLst>
              <a:gd name="adj" fmla="val 31494"/>
            </a:avLst>
          </a:prstGeom>
          <a:solidFill>
            <a:srgbClr val="8661C5"/>
          </a:solid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a:defRPr/>
            </a:pPr>
            <a:r>
              <a:rPr lang="en-US" sz="1600" b="0">
                <a:solidFill>
                  <a:srgbClr val="000000"/>
                </a:solidFill>
                <a:latin typeface="Segoe Sans Display" pitchFamily="2" charset="0"/>
                <a:cs typeface="Segoe Sans Display" pitchFamily="2" charset="0"/>
              </a:rPr>
              <a:t>Instructions</a:t>
            </a:r>
          </a:p>
        </p:txBody>
      </p:sp>
      <p:sp>
        <p:nvSpPr>
          <p:cNvPr id="66" name="Rectangle: Rounded Corners 12">
            <a:extLst>
              <a:ext uri="{FF2B5EF4-FFF2-40B4-BE49-F238E27FC236}">
                <a16:creationId xmlns:a16="http://schemas.microsoft.com/office/drawing/2014/main" id="{8416BA05-4BDC-205F-ABAF-3C422234AE61}"/>
              </a:ext>
              <a:ext uri="{C183D7F6-B498-43B3-948B-1728B52AA6E4}">
                <adec:decorative xmlns:adec="http://schemas.microsoft.com/office/drawing/2017/decorative" val="0"/>
              </a:ext>
            </a:extLst>
          </p:cNvPr>
          <p:cNvSpPr txBox="1">
            <a:spLocks/>
          </p:cNvSpPr>
          <p:nvPr/>
        </p:nvSpPr>
        <p:spPr bwMode="auto">
          <a:xfrm>
            <a:off x="4956744" y="3496554"/>
            <a:ext cx="2282458" cy="369332"/>
          </a:xfrm>
          <a:prstGeom prst="roundRect">
            <a:avLst>
              <a:gd name="adj" fmla="val 31494"/>
            </a:avLst>
          </a:prstGeom>
          <a:solidFill>
            <a:srgbClr val="0078D4"/>
          </a:solid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a:defRPr/>
            </a:pPr>
            <a:r>
              <a:rPr lang="en-US" sz="1600" b="0">
                <a:solidFill>
                  <a:srgbClr val="000000"/>
                </a:solidFill>
                <a:latin typeface="Segoe Sans Display" pitchFamily="2" charset="0"/>
                <a:cs typeface="Segoe Sans Display" pitchFamily="2" charset="0"/>
              </a:rPr>
              <a:t>Tools</a:t>
            </a:r>
          </a:p>
        </p:txBody>
      </p:sp>
      <p:grpSp>
        <p:nvGrpSpPr>
          <p:cNvPr id="67" name="Group 66">
            <a:extLst>
              <a:ext uri="{FF2B5EF4-FFF2-40B4-BE49-F238E27FC236}">
                <a16:creationId xmlns:a16="http://schemas.microsoft.com/office/drawing/2014/main" id="{40099B85-F7F8-CCF0-247E-6A0BEBE156A7}"/>
              </a:ext>
              <a:ext uri="{C183D7F6-B498-43B3-948B-1728B52AA6E4}">
                <adec:decorative xmlns:adec="http://schemas.microsoft.com/office/drawing/2017/decorative" val="1"/>
              </a:ext>
            </a:extLst>
          </p:cNvPr>
          <p:cNvGrpSpPr/>
          <p:nvPr/>
        </p:nvGrpSpPr>
        <p:grpSpPr>
          <a:xfrm>
            <a:off x="4956744" y="2360482"/>
            <a:ext cx="2282458" cy="1505404"/>
            <a:chOff x="4956744" y="2454172"/>
            <a:chExt cx="2282458" cy="1505404"/>
          </a:xfrm>
          <a:gradFill flip="none" rotWithShape="1">
            <a:gsLst>
              <a:gs pos="0">
                <a:srgbClr val="C03BC4"/>
              </a:gs>
              <a:gs pos="100000">
                <a:srgbClr val="0078D4"/>
              </a:gs>
            </a:gsLst>
            <a:lin ang="2700000" scaled="1"/>
            <a:tileRect/>
          </a:gradFill>
        </p:grpSpPr>
        <p:sp>
          <p:nvSpPr>
            <p:cNvPr id="68" name="Rectangle: Rounded Corners 12">
              <a:extLst>
                <a:ext uri="{FF2B5EF4-FFF2-40B4-BE49-F238E27FC236}">
                  <a16:creationId xmlns:a16="http://schemas.microsoft.com/office/drawing/2014/main" id="{DD15A7E6-8EA7-AD7B-3D43-8F3F7A99F936}"/>
                </a:ext>
                <a:ext uri="{C183D7F6-B498-43B3-948B-1728B52AA6E4}">
                  <adec:decorative xmlns:adec="http://schemas.microsoft.com/office/drawing/2017/decorative" val="0"/>
                </a:ext>
              </a:extLst>
            </p:cNvPr>
            <p:cNvSpPr txBox="1">
              <a:spLocks/>
            </p:cNvSpPr>
            <p:nvPr/>
          </p:nvSpPr>
          <p:spPr bwMode="auto">
            <a:xfrm>
              <a:off x="4956744" y="2454172"/>
              <a:ext cx="2282458" cy="369332"/>
            </a:xfrm>
            <a:prstGeom prst="roundRect">
              <a:avLst>
                <a:gd name="adj" fmla="val 31494"/>
              </a:avLst>
            </a:prstGeom>
            <a:gradFill flip="none" rotWithShape="1">
              <a:gsLst>
                <a:gs pos="0">
                  <a:srgbClr val="B37AD7"/>
                </a:gs>
                <a:gs pos="80000">
                  <a:srgbClr val="1371ED"/>
                </a:gs>
              </a:gsLst>
              <a:path path="circle">
                <a:fillToRect l="100000" t="100000"/>
              </a:path>
              <a:tileRect r="-100000" b="-100000"/>
            </a:gradFill>
            <a:ln w="12700" cap="rnd">
              <a:noFill/>
            </a:ln>
          </p:spPr>
          <p:txBody>
            <a:bodyPr wrap="none" lIns="0" tIns="0" rIns="0" bIns="45720" rtlCol="0" anchor="ctr" anchorCtr="0">
              <a:noAutofit/>
            </a:bodyPr>
            <a:lstStyle>
              <a:defPPr>
                <a:defRPr lang="en-US"/>
              </a:defPPr>
              <a:lvl1pPr algn="ctr" defTabSz="914437" fontAlgn="base">
                <a:spcBef>
                  <a:spcPts val="1200"/>
                </a:spcBef>
                <a:spcAft>
                  <a:spcPct val="0"/>
                </a:spcAft>
                <a:tabLst>
                  <a:tab pos="1487158" algn="l"/>
                </a:tabLst>
                <a:defRPr sz="1600" b="1">
                  <a:ln w="3175">
                    <a:noFill/>
                  </a:ln>
                  <a:gradFill>
                    <a:gsLst>
                      <a:gs pos="3670">
                        <a:prstClr val="black"/>
                      </a:gs>
                      <a:gs pos="25688">
                        <a:prstClr val="black"/>
                      </a:gs>
                    </a:gsLst>
                    <a:path path="circle">
                      <a:fillToRect l="100000" t="100000"/>
                    </a:path>
                  </a:gradFill>
                  <a:latin typeface="Segoe UI Variable Display Semib" pitchFamily="2" charset="0"/>
                  <a:cs typeface="Segoe UI" pitchFamily="34" charset="0"/>
                </a:defRPr>
              </a:lvl1pPr>
            </a:lstStyle>
            <a:p>
              <a:r>
                <a:rPr lang="en-US" sz="1400" dirty="0">
                  <a:solidFill>
                    <a:schemeClr val="bg1"/>
                  </a:solidFill>
                  <a:latin typeface="Segoe Sans Display Semibold" pitchFamily="2" charset="0"/>
                </a:rPr>
                <a:t>LLM</a:t>
              </a:r>
            </a:p>
          </p:txBody>
        </p:sp>
        <p:sp>
          <p:nvSpPr>
            <p:cNvPr id="69" name="Rectangle: Rounded Corners 12">
              <a:extLst>
                <a:ext uri="{FF2B5EF4-FFF2-40B4-BE49-F238E27FC236}">
                  <a16:creationId xmlns:a16="http://schemas.microsoft.com/office/drawing/2014/main" id="{D3372E46-5443-A4E9-A248-D73DD0E3A5A3}"/>
                </a:ext>
                <a:ext uri="{C183D7F6-B498-43B3-948B-1728B52AA6E4}">
                  <adec:decorative xmlns:adec="http://schemas.microsoft.com/office/drawing/2017/decorative" val="0"/>
                </a:ext>
              </a:extLst>
            </p:cNvPr>
            <p:cNvSpPr txBox="1">
              <a:spLocks/>
            </p:cNvSpPr>
            <p:nvPr/>
          </p:nvSpPr>
          <p:spPr bwMode="auto">
            <a:xfrm>
              <a:off x="4956744" y="3022208"/>
              <a:ext cx="2282458" cy="369332"/>
            </a:xfrm>
            <a:prstGeom prst="roundRect">
              <a:avLst>
                <a:gd name="adj" fmla="val 31494"/>
              </a:avLst>
            </a:prstGeom>
            <a:gradFill flip="none" rotWithShape="1">
              <a:gsLst>
                <a:gs pos="0">
                  <a:srgbClr val="B37AD7"/>
                </a:gs>
                <a:gs pos="80000">
                  <a:srgbClr val="1371ED"/>
                </a:gs>
              </a:gsLst>
              <a:path path="circle">
                <a:fillToRect l="100000" t="100000"/>
              </a:path>
              <a:tileRect r="-100000" b="-100000"/>
            </a:gradFill>
            <a:ln w="12700" cap="rnd">
              <a:noFill/>
            </a:ln>
          </p:spPr>
          <p:txBody>
            <a:bodyPr wrap="none" lIns="0" tIns="0" rIns="0" bIns="45720" rtlCol="0" anchor="ctr" anchorCtr="0">
              <a:noAutofit/>
            </a:bodyPr>
            <a:lstStyle>
              <a:defPPr>
                <a:defRPr lang="en-US"/>
              </a:defPPr>
              <a:lvl1pPr algn="ctr" defTabSz="914437" fontAlgn="base">
                <a:spcBef>
                  <a:spcPts val="1200"/>
                </a:spcBef>
                <a:spcAft>
                  <a:spcPct val="0"/>
                </a:spcAft>
                <a:tabLst>
                  <a:tab pos="1487158" algn="l"/>
                </a:tabLst>
                <a:defRPr sz="1600" b="1">
                  <a:ln w="3175">
                    <a:noFill/>
                  </a:ln>
                  <a:gradFill>
                    <a:gsLst>
                      <a:gs pos="3670">
                        <a:prstClr val="black"/>
                      </a:gs>
                      <a:gs pos="25688">
                        <a:prstClr val="black"/>
                      </a:gs>
                    </a:gsLst>
                    <a:path path="circle">
                      <a:fillToRect l="100000" t="100000"/>
                    </a:path>
                  </a:gradFill>
                  <a:latin typeface="Segoe UI Variable Display Semib" pitchFamily="2" charset="0"/>
                  <a:cs typeface="Segoe UI" pitchFamily="34" charset="0"/>
                </a:defRPr>
              </a:lvl1pPr>
            </a:lstStyle>
            <a:p>
              <a:r>
                <a:rPr lang="en-US" sz="1400" dirty="0">
                  <a:solidFill>
                    <a:schemeClr val="bg1"/>
                  </a:solidFill>
                  <a:latin typeface="Segoe Sans Display Semibold" pitchFamily="2" charset="0"/>
                </a:rPr>
                <a:t>Instructions</a:t>
              </a:r>
            </a:p>
          </p:txBody>
        </p:sp>
        <p:sp>
          <p:nvSpPr>
            <p:cNvPr id="70" name="Rectangle: Rounded Corners 12">
              <a:extLst>
                <a:ext uri="{FF2B5EF4-FFF2-40B4-BE49-F238E27FC236}">
                  <a16:creationId xmlns:a16="http://schemas.microsoft.com/office/drawing/2014/main" id="{8416BA05-4BDC-205F-ABAF-3C422234AE61}"/>
                </a:ext>
                <a:ext uri="{C183D7F6-B498-43B3-948B-1728B52AA6E4}">
                  <adec:decorative xmlns:adec="http://schemas.microsoft.com/office/drawing/2017/decorative" val="0"/>
                </a:ext>
              </a:extLst>
            </p:cNvPr>
            <p:cNvSpPr txBox="1">
              <a:spLocks/>
            </p:cNvSpPr>
            <p:nvPr/>
          </p:nvSpPr>
          <p:spPr bwMode="auto">
            <a:xfrm>
              <a:off x="4956744" y="3590244"/>
              <a:ext cx="2282458" cy="369332"/>
            </a:xfrm>
            <a:prstGeom prst="roundRect">
              <a:avLst>
                <a:gd name="adj" fmla="val 31494"/>
              </a:avLst>
            </a:prstGeom>
            <a:gradFill flip="none" rotWithShape="1">
              <a:gsLst>
                <a:gs pos="0">
                  <a:srgbClr val="B37AD7"/>
                </a:gs>
                <a:gs pos="80000">
                  <a:srgbClr val="1371ED"/>
                </a:gs>
              </a:gsLst>
              <a:path path="circle">
                <a:fillToRect l="100000" t="100000"/>
              </a:path>
              <a:tileRect r="-100000" b="-100000"/>
            </a:gradFill>
            <a:ln w="12700" cap="rnd">
              <a:noFill/>
            </a:ln>
          </p:spPr>
          <p:txBody>
            <a:bodyPr wrap="none" lIns="0" tIns="0" rIns="0" bIns="45720" rtlCol="0" anchor="ctr" anchorCtr="0">
              <a:noAutofit/>
            </a:bodyPr>
            <a:lstStyle>
              <a:defPPr>
                <a:defRPr lang="en-US"/>
              </a:defPPr>
              <a:lvl1pPr algn="ctr" defTabSz="914437" fontAlgn="base">
                <a:spcBef>
                  <a:spcPts val="1200"/>
                </a:spcBef>
                <a:spcAft>
                  <a:spcPct val="0"/>
                </a:spcAft>
                <a:tabLst>
                  <a:tab pos="1487158" algn="l"/>
                </a:tabLst>
                <a:defRPr sz="1600" b="1">
                  <a:ln w="3175">
                    <a:noFill/>
                  </a:ln>
                  <a:gradFill>
                    <a:gsLst>
                      <a:gs pos="3670">
                        <a:prstClr val="black"/>
                      </a:gs>
                      <a:gs pos="25688">
                        <a:prstClr val="black"/>
                      </a:gs>
                    </a:gsLst>
                    <a:path path="circle">
                      <a:fillToRect l="100000" t="100000"/>
                    </a:path>
                  </a:gradFill>
                  <a:latin typeface="Segoe UI Variable Display Semib" pitchFamily="2" charset="0"/>
                  <a:cs typeface="Segoe UI" pitchFamily="34" charset="0"/>
                </a:defRPr>
              </a:lvl1pPr>
            </a:lstStyle>
            <a:p>
              <a:r>
                <a:rPr lang="en-US" sz="1400" dirty="0">
                  <a:solidFill>
                    <a:schemeClr val="bg1"/>
                  </a:solidFill>
                  <a:latin typeface="Segoe Sans Display Semibold" pitchFamily="2" charset="0"/>
                </a:rPr>
                <a:t>Tools</a:t>
              </a:r>
            </a:p>
          </p:txBody>
        </p:sp>
      </p:grpSp>
      <p:grpSp>
        <p:nvGrpSpPr>
          <p:cNvPr id="105" name="Group 104">
            <a:extLst>
              <a:ext uri="{FF2B5EF4-FFF2-40B4-BE49-F238E27FC236}">
                <a16:creationId xmlns:a16="http://schemas.microsoft.com/office/drawing/2014/main" id="{F69DA15D-160D-3013-949A-8B54F10D496F}"/>
              </a:ext>
              <a:ext uri="{C183D7F6-B498-43B3-948B-1728B52AA6E4}">
                <adec:decorative xmlns:adec="http://schemas.microsoft.com/office/drawing/2017/decorative" val="1"/>
              </a:ext>
            </a:extLst>
          </p:cNvPr>
          <p:cNvGrpSpPr/>
          <p:nvPr/>
        </p:nvGrpSpPr>
        <p:grpSpPr>
          <a:xfrm>
            <a:off x="5243374" y="4029260"/>
            <a:ext cx="1700157" cy="1007671"/>
            <a:chOff x="5132715" y="4029260"/>
            <a:chExt cx="1700157" cy="1007671"/>
          </a:xfrm>
        </p:grpSpPr>
        <p:cxnSp>
          <p:nvCxnSpPr>
            <p:cNvPr id="106" name="Straight Arrow Connector 105">
              <a:extLst>
                <a:ext uri="{FF2B5EF4-FFF2-40B4-BE49-F238E27FC236}">
                  <a16:creationId xmlns:a16="http://schemas.microsoft.com/office/drawing/2014/main" id="{51AC6259-2678-16C8-2E66-0D8747A55D69}"/>
                </a:ext>
              </a:extLst>
            </p:cNvPr>
            <p:cNvCxnSpPr>
              <a:cxnSpLocks/>
            </p:cNvCxnSpPr>
            <p:nvPr/>
          </p:nvCxnSpPr>
          <p:spPr>
            <a:xfrm>
              <a:off x="5132715" y="4185434"/>
              <a:ext cx="0" cy="806688"/>
            </a:xfrm>
            <a:prstGeom prst="straightConnector1">
              <a:avLst/>
            </a:prstGeom>
            <a:noFill/>
            <a:ln w="12700" cap="flat" cmpd="sng" algn="ctr">
              <a:gradFill flip="none" rotWithShape="1">
                <a:gsLst>
                  <a:gs pos="0">
                    <a:srgbClr val="463668">
                      <a:alpha val="0"/>
                    </a:srgbClr>
                  </a:gs>
                  <a:gs pos="96000">
                    <a:srgbClr val="000000"/>
                  </a:gs>
                </a:gsLst>
                <a:lin ang="5400000" scaled="1"/>
                <a:tileRect/>
              </a:gradFill>
              <a:prstDash val="solid"/>
              <a:headEnd type="none" w="lg" len="med"/>
              <a:tailEnd type="arrow" w="lg" len="sm"/>
            </a:ln>
            <a:effectLst/>
          </p:spPr>
        </p:cxnSp>
        <p:cxnSp>
          <p:nvCxnSpPr>
            <p:cNvPr id="107" name="Straight Arrow Connector 106">
              <a:extLst>
                <a:ext uri="{FF2B5EF4-FFF2-40B4-BE49-F238E27FC236}">
                  <a16:creationId xmlns:a16="http://schemas.microsoft.com/office/drawing/2014/main" id="{5CA8BC9F-C7AA-606C-CADC-524D01455E4F}"/>
                </a:ext>
              </a:extLst>
            </p:cNvPr>
            <p:cNvCxnSpPr>
              <a:cxnSpLocks/>
              <a:stCxn id="60" idx="2"/>
              <a:endCxn id="60" idx="0"/>
            </p:cNvCxnSpPr>
            <p:nvPr/>
          </p:nvCxnSpPr>
          <p:spPr>
            <a:xfrm flipV="1">
              <a:off x="6832872" y="4029260"/>
              <a:ext cx="0" cy="1007671"/>
            </a:xfrm>
            <a:prstGeom prst="straightConnector1">
              <a:avLst/>
            </a:prstGeom>
            <a:noFill/>
            <a:ln w="12700" cap="flat" cmpd="sng" algn="ctr">
              <a:gradFill flip="none" rotWithShape="1">
                <a:gsLst>
                  <a:gs pos="0">
                    <a:srgbClr val="463668">
                      <a:alpha val="0"/>
                    </a:srgbClr>
                  </a:gs>
                  <a:gs pos="99000">
                    <a:srgbClr val="000000"/>
                  </a:gs>
                </a:gsLst>
                <a:lin ang="5400000" scaled="1"/>
                <a:tileRect/>
              </a:gradFill>
              <a:prstDash val="solid"/>
              <a:headEnd type="none" w="lg" len="med"/>
              <a:tailEnd type="arrow" w="lg" len="sm"/>
            </a:ln>
            <a:effectLst/>
          </p:spPr>
        </p:cxnSp>
      </p:grpSp>
      <p:sp>
        <p:nvSpPr>
          <p:cNvPr id="86" name="TextBox 85">
            <a:extLst>
              <a:ext uri="{FF2B5EF4-FFF2-40B4-BE49-F238E27FC236}">
                <a16:creationId xmlns:a16="http://schemas.microsoft.com/office/drawing/2014/main" id="{B528C5E9-72AF-D3F4-CBEB-4CD030A49D0F}"/>
              </a:ext>
            </a:extLst>
          </p:cNvPr>
          <p:cNvSpPr txBox="1"/>
          <p:nvPr/>
        </p:nvSpPr>
        <p:spPr>
          <a:xfrm>
            <a:off x="5326829" y="4898432"/>
            <a:ext cx="1538343" cy="276999"/>
          </a:xfrm>
          <a:prstGeom prst="rect">
            <a:avLst/>
          </a:prstGeom>
          <a:noFill/>
          <a:effectLst/>
        </p:spPr>
        <p:txBody>
          <a:bodyPr wrap="square" lIns="0" tIns="0" rIns="0" bIns="0" rtlCol="0" anchor="t" anchorCtr="0">
            <a:spAutoFit/>
          </a:bodyPr>
          <a:lstStyle/>
          <a:p>
            <a:pPr algn="ctr" defTabSz="1371600">
              <a:tabLst>
                <a:tab pos="1371600" algn="l"/>
              </a:tabLst>
              <a:defRPr/>
            </a:pPr>
            <a:r>
              <a:rPr lang="en-US" b="1">
                <a:ln w="3175">
                  <a:noFill/>
                </a:ln>
                <a:solidFill>
                  <a:srgbClr val="000000"/>
                </a:solidFill>
                <a:latin typeface="Segoe Sans Display Semibold" pitchFamily="2" charset="0"/>
                <a:cs typeface="Segoe Sans Display Semibold" pitchFamily="2" charset="0"/>
              </a:rPr>
              <a:t>Tool calls</a:t>
            </a:r>
          </a:p>
        </p:txBody>
      </p:sp>
      <p:grpSp>
        <p:nvGrpSpPr>
          <p:cNvPr id="87" name="Group 86" descr="Retrieval">
            <a:extLst>
              <a:ext uri="{FF2B5EF4-FFF2-40B4-BE49-F238E27FC236}">
                <a16:creationId xmlns:a16="http://schemas.microsoft.com/office/drawing/2014/main" id="{15BF9BAD-21AF-26B2-3401-793BA76BB823}"/>
              </a:ext>
              <a:ext uri="{C183D7F6-B498-43B3-948B-1728B52AA6E4}">
                <adec:decorative xmlns:adec="http://schemas.microsoft.com/office/drawing/2017/decorative" val="0"/>
              </a:ext>
            </a:extLst>
          </p:cNvPr>
          <p:cNvGrpSpPr/>
          <p:nvPr/>
        </p:nvGrpSpPr>
        <p:grpSpPr>
          <a:xfrm>
            <a:off x="4834201" y="5306128"/>
            <a:ext cx="861134" cy="893066"/>
            <a:chOff x="4834201" y="5294131"/>
            <a:chExt cx="861134" cy="893066"/>
          </a:xfrm>
        </p:grpSpPr>
        <p:pic>
          <p:nvPicPr>
            <p:cNvPr id="88" name="Picture 87">
              <a:extLst>
                <a:ext uri="{FF2B5EF4-FFF2-40B4-BE49-F238E27FC236}">
                  <a16:creationId xmlns:a16="http://schemas.microsoft.com/office/drawing/2014/main" id="{78E09D4E-8550-37FF-88BB-121E84FE70A3}"/>
                </a:ext>
              </a:extLst>
            </p:cNvPr>
            <p:cNvPicPr>
              <a:picLocks noChangeAspect="1"/>
            </p:cNvPicPr>
            <p:nvPr/>
          </p:nvPicPr>
          <p:blipFill>
            <a:blip r:embed="rId6"/>
            <a:stretch>
              <a:fillRect/>
            </a:stretch>
          </p:blipFill>
          <p:spPr>
            <a:xfrm>
              <a:off x="5036179" y="5294131"/>
              <a:ext cx="565588" cy="565588"/>
            </a:xfrm>
            <a:prstGeom prst="rect">
              <a:avLst/>
            </a:prstGeom>
            <a:effectLst>
              <a:outerShdw blurRad="50800" dist="38100" dir="2700000" algn="tl" rotWithShape="0">
                <a:prstClr val="black">
                  <a:alpha val="10000"/>
                </a:prstClr>
              </a:outerShdw>
            </a:effectLst>
          </p:spPr>
        </p:pic>
        <p:sp>
          <p:nvSpPr>
            <p:cNvPr id="89" name="TextBox 88">
              <a:extLst>
                <a:ext uri="{FF2B5EF4-FFF2-40B4-BE49-F238E27FC236}">
                  <a16:creationId xmlns:a16="http://schemas.microsoft.com/office/drawing/2014/main" id="{4A8E5CA5-C293-93D0-6D35-1C43B54DA2C9}"/>
                </a:ext>
              </a:extLst>
            </p:cNvPr>
            <p:cNvSpPr txBox="1"/>
            <p:nvPr/>
          </p:nvSpPr>
          <p:spPr>
            <a:xfrm>
              <a:off x="4834201" y="5900965"/>
              <a:ext cx="861134" cy="286232"/>
            </a:xfrm>
            <a:prstGeom prst="rect">
              <a:avLst/>
            </a:prstGeom>
            <a:noFill/>
          </p:spPr>
          <p:txBody>
            <a:bodyPr wrap="none" rtlCol="0">
              <a:spAutoFit/>
            </a:bodyPr>
            <a:lstStyle/>
            <a:p>
              <a:pPr algn="ctr">
                <a:lnSpc>
                  <a:spcPct val="90000"/>
                </a:lnSpc>
                <a:defRPr/>
              </a:pPr>
              <a:r>
                <a:rPr lang="en-US" sz="1400" dirty="0">
                  <a:solidFill>
                    <a:srgbClr val="000000"/>
                  </a:solidFill>
                  <a:cs typeface="Segoe Sans Display" pitchFamily="2" charset="0"/>
                </a:rPr>
                <a:t>Retrieval</a:t>
              </a:r>
            </a:p>
          </p:txBody>
        </p:sp>
      </p:grpSp>
      <p:grpSp>
        <p:nvGrpSpPr>
          <p:cNvPr id="90" name="Group 89" descr="Actions">
            <a:extLst>
              <a:ext uri="{FF2B5EF4-FFF2-40B4-BE49-F238E27FC236}">
                <a16:creationId xmlns:a16="http://schemas.microsoft.com/office/drawing/2014/main" id="{C3B9F01A-5B64-0C02-2B04-5D6BDA8F72FC}"/>
              </a:ext>
              <a:ext uri="{C183D7F6-B498-43B3-948B-1728B52AA6E4}">
                <adec:decorative xmlns:adec="http://schemas.microsoft.com/office/drawing/2017/decorative" val="0"/>
              </a:ext>
            </a:extLst>
          </p:cNvPr>
          <p:cNvGrpSpPr/>
          <p:nvPr/>
        </p:nvGrpSpPr>
        <p:grpSpPr>
          <a:xfrm>
            <a:off x="5704707" y="5303733"/>
            <a:ext cx="782587" cy="895461"/>
            <a:chOff x="5704707" y="5291736"/>
            <a:chExt cx="782587" cy="895461"/>
          </a:xfrm>
        </p:grpSpPr>
        <p:pic>
          <p:nvPicPr>
            <p:cNvPr id="91" name="Picture 90">
              <a:extLst>
                <a:ext uri="{FF2B5EF4-FFF2-40B4-BE49-F238E27FC236}">
                  <a16:creationId xmlns:a16="http://schemas.microsoft.com/office/drawing/2014/main" id="{E41A066A-0D16-8ED1-C070-AFBC03B9B3B3}"/>
                </a:ext>
              </a:extLst>
            </p:cNvPr>
            <p:cNvPicPr>
              <a:picLocks noChangeAspect="1"/>
            </p:cNvPicPr>
            <p:nvPr/>
          </p:nvPicPr>
          <p:blipFill>
            <a:blip r:embed="rId7"/>
            <a:stretch>
              <a:fillRect/>
            </a:stretch>
          </p:blipFill>
          <p:spPr>
            <a:xfrm>
              <a:off x="5841645" y="5291736"/>
              <a:ext cx="508711" cy="508711"/>
            </a:xfrm>
            <a:prstGeom prst="rect">
              <a:avLst/>
            </a:prstGeom>
            <a:effectLst>
              <a:outerShdw blurRad="50800" dist="38100" dir="2700000" algn="tl" rotWithShape="0">
                <a:prstClr val="black">
                  <a:alpha val="10000"/>
                </a:prstClr>
              </a:outerShdw>
            </a:effectLst>
          </p:spPr>
        </p:pic>
        <p:sp>
          <p:nvSpPr>
            <p:cNvPr id="92" name="TextBox 91">
              <a:extLst>
                <a:ext uri="{FF2B5EF4-FFF2-40B4-BE49-F238E27FC236}">
                  <a16:creationId xmlns:a16="http://schemas.microsoft.com/office/drawing/2014/main" id="{A2F6ACBB-18CD-0903-1C24-84029D507A83}"/>
                </a:ext>
              </a:extLst>
            </p:cNvPr>
            <p:cNvSpPr txBox="1"/>
            <p:nvPr/>
          </p:nvSpPr>
          <p:spPr>
            <a:xfrm>
              <a:off x="5704707" y="5900965"/>
              <a:ext cx="782587" cy="286232"/>
            </a:xfrm>
            <a:prstGeom prst="rect">
              <a:avLst/>
            </a:prstGeom>
            <a:noFill/>
          </p:spPr>
          <p:txBody>
            <a:bodyPr wrap="none" rtlCol="0">
              <a:spAutoFit/>
            </a:bodyPr>
            <a:lstStyle/>
            <a:p>
              <a:pPr algn="ctr">
                <a:lnSpc>
                  <a:spcPct val="90000"/>
                </a:lnSpc>
                <a:defRPr/>
              </a:pPr>
              <a:r>
                <a:rPr lang="en-US" sz="1400" dirty="0">
                  <a:solidFill>
                    <a:srgbClr val="000000"/>
                  </a:solidFill>
                  <a:cs typeface="Segoe Sans Display" pitchFamily="2" charset="0"/>
                </a:rPr>
                <a:t>Actions</a:t>
              </a:r>
            </a:p>
          </p:txBody>
        </p:sp>
      </p:grpSp>
      <p:grpSp>
        <p:nvGrpSpPr>
          <p:cNvPr id="93" name="Group 92" descr="Memory">
            <a:extLst>
              <a:ext uri="{FF2B5EF4-FFF2-40B4-BE49-F238E27FC236}">
                <a16:creationId xmlns:a16="http://schemas.microsoft.com/office/drawing/2014/main" id="{F414E05D-1B11-D93A-B76C-55384F2A4678}"/>
              </a:ext>
              <a:ext uri="{C183D7F6-B498-43B3-948B-1728B52AA6E4}">
                <adec:decorative xmlns:adec="http://schemas.microsoft.com/office/drawing/2017/decorative" val="0"/>
              </a:ext>
            </a:extLst>
          </p:cNvPr>
          <p:cNvGrpSpPr/>
          <p:nvPr/>
        </p:nvGrpSpPr>
        <p:grpSpPr>
          <a:xfrm>
            <a:off x="6504518" y="5289864"/>
            <a:ext cx="848246" cy="909330"/>
            <a:chOff x="6504518" y="5277867"/>
            <a:chExt cx="848246" cy="909330"/>
          </a:xfrm>
        </p:grpSpPr>
        <p:pic>
          <p:nvPicPr>
            <p:cNvPr id="94" name="Picture 93">
              <a:extLst>
                <a:ext uri="{FF2B5EF4-FFF2-40B4-BE49-F238E27FC236}">
                  <a16:creationId xmlns:a16="http://schemas.microsoft.com/office/drawing/2014/main" id="{58D9CA8C-BD06-9AFD-978E-6790F3CAE943}"/>
                </a:ext>
              </a:extLst>
            </p:cNvPr>
            <p:cNvPicPr>
              <a:picLocks noChangeAspect="1"/>
            </p:cNvPicPr>
            <p:nvPr/>
          </p:nvPicPr>
          <p:blipFill>
            <a:blip r:embed="rId8"/>
            <a:stretch>
              <a:fillRect/>
            </a:stretch>
          </p:blipFill>
          <p:spPr>
            <a:xfrm>
              <a:off x="6659784" y="5277867"/>
              <a:ext cx="565588" cy="565588"/>
            </a:xfrm>
            <a:prstGeom prst="rect">
              <a:avLst/>
            </a:prstGeom>
            <a:effectLst>
              <a:outerShdw blurRad="50800" dist="38100" dir="2700000" algn="tl" rotWithShape="0">
                <a:prstClr val="black">
                  <a:alpha val="10000"/>
                </a:prstClr>
              </a:outerShdw>
            </a:effectLst>
          </p:spPr>
        </p:pic>
        <p:sp>
          <p:nvSpPr>
            <p:cNvPr id="95" name="TextBox 94">
              <a:extLst>
                <a:ext uri="{FF2B5EF4-FFF2-40B4-BE49-F238E27FC236}">
                  <a16:creationId xmlns:a16="http://schemas.microsoft.com/office/drawing/2014/main" id="{C13B240E-1452-83CB-E0B5-F2A4A01944BF}"/>
                </a:ext>
              </a:extLst>
            </p:cNvPr>
            <p:cNvSpPr txBox="1"/>
            <p:nvPr/>
          </p:nvSpPr>
          <p:spPr>
            <a:xfrm>
              <a:off x="6504518" y="5900965"/>
              <a:ext cx="848246" cy="286232"/>
            </a:xfrm>
            <a:prstGeom prst="rect">
              <a:avLst/>
            </a:prstGeom>
            <a:noFill/>
          </p:spPr>
          <p:txBody>
            <a:bodyPr wrap="none" rtlCol="0">
              <a:spAutoFit/>
            </a:bodyPr>
            <a:lstStyle/>
            <a:p>
              <a:pPr algn="ctr">
                <a:lnSpc>
                  <a:spcPct val="90000"/>
                </a:lnSpc>
                <a:defRPr/>
              </a:pPr>
              <a:r>
                <a:rPr lang="en-US" sz="1400" dirty="0">
                  <a:solidFill>
                    <a:srgbClr val="000000"/>
                  </a:solidFill>
                  <a:cs typeface="Segoe Sans Display" pitchFamily="2" charset="0"/>
                </a:rPr>
                <a:t>Memory</a:t>
              </a:r>
            </a:p>
          </p:txBody>
        </p:sp>
      </p:grpSp>
      <p:cxnSp>
        <p:nvCxnSpPr>
          <p:cNvPr id="104" name="Straight Arrow Connector 103">
            <a:extLst>
              <a:ext uri="{FF2B5EF4-FFF2-40B4-BE49-F238E27FC236}">
                <a16:creationId xmlns:a16="http://schemas.microsoft.com/office/drawing/2014/main" id="{0386AD3A-0461-4F22-9596-D9B5417056BF}"/>
              </a:ext>
              <a:ext uri="{C183D7F6-B498-43B3-948B-1728B52AA6E4}">
                <adec:decorative xmlns:adec="http://schemas.microsoft.com/office/drawing/2017/decorative" val="1"/>
              </a:ext>
            </a:extLst>
          </p:cNvPr>
          <p:cNvCxnSpPr>
            <a:cxnSpLocks/>
          </p:cNvCxnSpPr>
          <p:nvPr/>
        </p:nvCxnSpPr>
        <p:spPr>
          <a:xfrm>
            <a:off x="7550347" y="3128106"/>
            <a:ext cx="1023912" cy="6460"/>
          </a:xfrm>
          <a:prstGeom prst="straightConnector1">
            <a:avLst/>
          </a:prstGeom>
          <a:noFill/>
          <a:ln w="12700" cap="flat" cmpd="sng" algn="ctr">
            <a:gradFill flip="none" rotWithShape="1">
              <a:gsLst>
                <a:gs pos="0">
                  <a:srgbClr val="463668">
                    <a:alpha val="0"/>
                  </a:srgbClr>
                </a:gs>
                <a:gs pos="100000">
                  <a:srgbClr val="000000"/>
                </a:gs>
              </a:gsLst>
              <a:lin ang="0" scaled="1"/>
              <a:tileRect/>
            </a:gradFill>
            <a:prstDash val="solid"/>
            <a:headEnd type="none" w="lg" len="med"/>
            <a:tailEnd type="arrow" w="lg" len="sm"/>
          </a:ln>
          <a:effectLst/>
        </p:spPr>
      </p:cxnSp>
      <p:sp>
        <p:nvSpPr>
          <p:cNvPr id="72" name="TextBox 71">
            <a:extLst>
              <a:ext uri="{FF2B5EF4-FFF2-40B4-BE49-F238E27FC236}">
                <a16:creationId xmlns:a16="http://schemas.microsoft.com/office/drawing/2014/main" id="{9DA13B0F-6F3C-B457-4899-B7A92C4DD381}"/>
              </a:ext>
            </a:extLst>
          </p:cNvPr>
          <p:cNvSpPr txBox="1"/>
          <p:nvPr/>
        </p:nvSpPr>
        <p:spPr>
          <a:xfrm>
            <a:off x="8998827" y="2531537"/>
            <a:ext cx="1538343" cy="276999"/>
          </a:xfrm>
          <a:prstGeom prst="rect">
            <a:avLst/>
          </a:prstGeom>
          <a:noFill/>
          <a:effectLst/>
        </p:spPr>
        <p:txBody>
          <a:bodyPr wrap="square" lIns="0" tIns="0" rIns="0" bIns="0" rtlCol="0" anchor="t" anchorCtr="0">
            <a:spAutoFit/>
          </a:bodyPr>
          <a:lstStyle/>
          <a:p>
            <a:pPr algn="ctr" defTabSz="1371600">
              <a:tabLst>
                <a:tab pos="1371600" algn="l"/>
              </a:tabLst>
              <a:defRPr/>
            </a:pPr>
            <a:r>
              <a:rPr lang="en-US" b="1">
                <a:ln w="3175">
                  <a:noFill/>
                </a:ln>
                <a:solidFill>
                  <a:srgbClr val="000000"/>
                </a:solidFill>
                <a:latin typeface="Segoe Sans Display Semibold" pitchFamily="2" charset="0"/>
                <a:cs typeface="Segoe Sans Display Semibold" pitchFamily="2" charset="0"/>
              </a:rPr>
              <a:t>Output</a:t>
            </a:r>
          </a:p>
        </p:txBody>
      </p:sp>
      <p:grpSp>
        <p:nvGrpSpPr>
          <p:cNvPr id="101" name="Group 100" descr="Agent&#10;messages">
            <a:extLst>
              <a:ext uri="{FF2B5EF4-FFF2-40B4-BE49-F238E27FC236}">
                <a16:creationId xmlns:a16="http://schemas.microsoft.com/office/drawing/2014/main" id="{40CF8355-D093-B721-AD11-15FF073E7FDA}"/>
              </a:ext>
              <a:ext uri="{C183D7F6-B498-43B3-948B-1728B52AA6E4}">
                <adec:decorative xmlns:adec="http://schemas.microsoft.com/office/drawing/2017/decorative" val="0"/>
              </a:ext>
            </a:extLst>
          </p:cNvPr>
          <p:cNvGrpSpPr/>
          <p:nvPr/>
        </p:nvGrpSpPr>
        <p:grpSpPr>
          <a:xfrm>
            <a:off x="8879427" y="2890911"/>
            <a:ext cx="957313" cy="1200060"/>
            <a:chOff x="8937677" y="2505905"/>
            <a:chExt cx="957313" cy="1200060"/>
          </a:xfrm>
        </p:grpSpPr>
        <p:sp>
          <p:nvSpPr>
            <p:cNvPr id="102" name="TextBox 101">
              <a:extLst>
                <a:ext uri="{FF2B5EF4-FFF2-40B4-BE49-F238E27FC236}">
                  <a16:creationId xmlns:a16="http://schemas.microsoft.com/office/drawing/2014/main" id="{81F91241-399C-9F28-7619-9C5B81EFC042}"/>
                </a:ext>
              </a:extLst>
            </p:cNvPr>
            <p:cNvSpPr txBox="1"/>
            <p:nvPr/>
          </p:nvSpPr>
          <p:spPr>
            <a:xfrm>
              <a:off x="8937677" y="3225834"/>
              <a:ext cx="957313" cy="480131"/>
            </a:xfrm>
            <a:prstGeom prst="rect">
              <a:avLst/>
            </a:prstGeom>
            <a:noFill/>
          </p:spPr>
          <p:txBody>
            <a:bodyPr wrap="none" rtlCol="0">
              <a:spAutoFit/>
            </a:bodyPr>
            <a:lstStyle/>
            <a:p>
              <a:pPr algn="ctr">
                <a:lnSpc>
                  <a:spcPct val="90000"/>
                </a:lnSpc>
                <a:defRPr/>
              </a:pPr>
              <a:r>
                <a:rPr lang="en-US" sz="1400" dirty="0">
                  <a:solidFill>
                    <a:srgbClr val="000000"/>
                  </a:solidFill>
                  <a:cs typeface="Segoe Sans Display" pitchFamily="2" charset="0"/>
                </a:rPr>
                <a:t>Agent</a:t>
              </a:r>
              <a:br>
                <a:rPr lang="en-US" sz="1400" dirty="0">
                  <a:solidFill>
                    <a:srgbClr val="000000"/>
                  </a:solidFill>
                  <a:cs typeface="Segoe Sans Display" pitchFamily="2" charset="0"/>
                </a:rPr>
              </a:br>
              <a:r>
                <a:rPr lang="en-US" sz="1400" dirty="0">
                  <a:solidFill>
                    <a:srgbClr val="000000"/>
                  </a:solidFill>
                  <a:cs typeface="Segoe Sans Display" pitchFamily="2" charset="0"/>
                </a:rPr>
                <a:t>messages</a:t>
              </a:r>
            </a:p>
          </p:txBody>
        </p:sp>
        <p:pic>
          <p:nvPicPr>
            <p:cNvPr id="103" name="Picture 102" descr="A colorful hexagon with stars&#10;&#10;Description automatically generated">
              <a:extLst>
                <a:ext uri="{FF2B5EF4-FFF2-40B4-BE49-F238E27FC236}">
                  <a16:creationId xmlns:a16="http://schemas.microsoft.com/office/drawing/2014/main" id="{1809AAA4-E4B8-A2F8-A990-51A29096ABA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59153" y="2505905"/>
              <a:ext cx="714360" cy="714360"/>
            </a:xfrm>
            <a:prstGeom prst="rect">
              <a:avLst/>
            </a:prstGeom>
          </p:spPr>
        </p:pic>
      </p:grpSp>
      <p:grpSp>
        <p:nvGrpSpPr>
          <p:cNvPr id="83" name="Group 82" descr="Tool&#10;results">
            <a:extLst>
              <a:ext uri="{FF2B5EF4-FFF2-40B4-BE49-F238E27FC236}">
                <a16:creationId xmlns:a16="http://schemas.microsoft.com/office/drawing/2014/main" id="{6CB104B0-CAD3-3F27-5FCC-BBD72277E6DB}"/>
              </a:ext>
              <a:ext uri="{C183D7F6-B498-43B3-948B-1728B52AA6E4}">
                <adec:decorative xmlns:adec="http://schemas.microsoft.com/office/drawing/2017/decorative" val="0"/>
              </a:ext>
            </a:extLst>
          </p:cNvPr>
          <p:cNvGrpSpPr/>
          <p:nvPr/>
        </p:nvGrpSpPr>
        <p:grpSpPr>
          <a:xfrm>
            <a:off x="9881126" y="2958361"/>
            <a:ext cx="708785" cy="1126298"/>
            <a:chOff x="9939376" y="2573355"/>
            <a:chExt cx="708785" cy="1126298"/>
          </a:xfrm>
        </p:grpSpPr>
        <p:pic>
          <p:nvPicPr>
            <p:cNvPr id="84" name="Picture 83">
              <a:extLst>
                <a:ext uri="{FF2B5EF4-FFF2-40B4-BE49-F238E27FC236}">
                  <a16:creationId xmlns:a16="http://schemas.microsoft.com/office/drawing/2014/main" id="{C3374C8A-45C8-AA04-CC2E-BC9DB1265284}"/>
                </a:ext>
              </a:extLst>
            </p:cNvPr>
            <p:cNvPicPr>
              <a:picLocks noChangeAspect="1"/>
            </p:cNvPicPr>
            <p:nvPr/>
          </p:nvPicPr>
          <p:blipFill>
            <a:blip r:embed="rId9"/>
            <a:stretch>
              <a:fillRect/>
            </a:stretch>
          </p:blipFill>
          <p:spPr>
            <a:xfrm>
              <a:off x="9993996" y="2573355"/>
              <a:ext cx="558598" cy="558597"/>
            </a:xfrm>
            <a:prstGeom prst="rect">
              <a:avLst/>
            </a:prstGeom>
          </p:spPr>
        </p:pic>
        <p:sp>
          <p:nvSpPr>
            <p:cNvPr id="85" name="TextBox 84">
              <a:extLst>
                <a:ext uri="{FF2B5EF4-FFF2-40B4-BE49-F238E27FC236}">
                  <a16:creationId xmlns:a16="http://schemas.microsoft.com/office/drawing/2014/main" id="{C50559E7-9AF9-5F70-C344-7617057C9077}"/>
                </a:ext>
              </a:extLst>
            </p:cNvPr>
            <p:cNvSpPr txBox="1"/>
            <p:nvPr/>
          </p:nvSpPr>
          <p:spPr>
            <a:xfrm>
              <a:off x="9939376" y="3219522"/>
              <a:ext cx="708785" cy="480131"/>
            </a:xfrm>
            <a:prstGeom prst="rect">
              <a:avLst/>
            </a:prstGeom>
            <a:noFill/>
          </p:spPr>
          <p:txBody>
            <a:bodyPr wrap="none" rtlCol="0">
              <a:spAutoFit/>
            </a:bodyPr>
            <a:lstStyle/>
            <a:p>
              <a:pPr algn="ctr">
                <a:lnSpc>
                  <a:spcPct val="90000"/>
                </a:lnSpc>
                <a:defRPr/>
              </a:pPr>
              <a:r>
                <a:rPr lang="en-US" sz="1400" dirty="0">
                  <a:solidFill>
                    <a:srgbClr val="000000"/>
                  </a:solidFill>
                  <a:cs typeface="Segoe Sans Display" pitchFamily="2" charset="0"/>
                </a:rPr>
                <a:t>Tool</a:t>
              </a:r>
              <a:br>
                <a:rPr lang="en-US" sz="1400" dirty="0">
                  <a:solidFill>
                    <a:srgbClr val="000000"/>
                  </a:solidFill>
                  <a:cs typeface="Segoe Sans Display" pitchFamily="2" charset="0"/>
                </a:rPr>
              </a:br>
              <a:r>
                <a:rPr lang="en-US" sz="1400" dirty="0">
                  <a:solidFill>
                    <a:srgbClr val="000000"/>
                  </a:solidFill>
                  <a:cs typeface="Segoe Sans Display" pitchFamily="2" charset="0"/>
                </a:rPr>
                <a:t>results</a:t>
              </a:r>
            </a:p>
          </p:txBody>
        </p:sp>
      </p:grpSp>
      <p:sp>
        <p:nvSpPr>
          <p:cNvPr id="108" name="TextBox 107">
            <a:extLst>
              <a:ext uri="{FF2B5EF4-FFF2-40B4-BE49-F238E27FC236}">
                <a16:creationId xmlns:a16="http://schemas.microsoft.com/office/drawing/2014/main" id="{95400FD4-0B9F-8001-DD6D-33659DB01BB8}"/>
              </a:ext>
            </a:extLst>
          </p:cNvPr>
          <p:cNvSpPr txBox="1"/>
          <p:nvPr/>
        </p:nvSpPr>
        <p:spPr>
          <a:xfrm>
            <a:off x="587375" y="6456743"/>
            <a:ext cx="7692390" cy="230832"/>
          </a:xfrm>
          <a:prstGeom prst="rect">
            <a:avLst/>
          </a:prstGeom>
          <a:noFill/>
        </p:spPr>
        <p:txBody>
          <a:bodyPr wrap="square">
            <a:spAutoFit/>
          </a:bodyPr>
          <a:lstStyle/>
          <a:p>
            <a:pPr defTabSz="914367">
              <a:defRPr/>
            </a:pPr>
            <a:r>
              <a:rPr lang="en-US" sz="900" dirty="0">
                <a:gradFill>
                  <a:gsLst>
                    <a:gs pos="79817">
                      <a:prstClr val="black"/>
                    </a:gs>
                    <a:gs pos="62136">
                      <a:prstClr val="black"/>
                    </a:gs>
                  </a:gsLst>
                  <a:path path="circle">
                    <a:fillToRect l="100000" t="100000"/>
                  </a:path>
                </a:gradFill>
                <a:latin typeface="Segoe Sans Display Semibold" pitchFamily="2" charset="0"/>
                <a:cs typeface="Segoe UI Semibold" panose="020B0702040204020203" pitchFamily="34" charset="0"/>
                <a:hlinkClick r:id="rId10">
                  <a:extLst>
                    <a:ext uri="{A12FA001-AC4F-418D-AE19-62706E023703}">
                      <ahyp:hlinkClr xmlns:ahyp="http://schemas.microsoft.com/office/drawing/2018/hyperlinkcolor" val="tx"/>
                    </a:ext>
                  </a:extLst>
                </a:hlinkClick>
              </a:rPr>
              <a:t>Source: What Are AI Agents, and How Do They Help Businesses?</a:t>
            </a:r>
            <a:endParaRPr lang="en-US" sz="900" dirty="0">
              <a:gradFill>
                <a:gsLst>
                  <a:gs pos="79817">
                    <a:prstClr val="black"/>
                  </a:gs>
                  <a:gs pos="62136">
                    <a:prstClr val="black"/>
                  </a:gs>
                </a:gsLst>
                <a:path path="circle">
                  <a:fillToRect l="100000" t="100000"/>
                </a:path>
              </a:gradFill>
              <a:latin typeface="Segoe Sans Display Semibold" pitchFamily="2" charset="0"/>
              <a:cs typeface="Segoe UI Semibold" panose="020B0702040204020203" pitchFamily="34" charset="0"/>
            </a:endParaRPr>
          </a:p>
        </p:txBody>
      </p:sp>
    </p:spTree>
    <p:extLst>
      <p:ext uri="{BB962C8B-B14F-4D97-AF65-F5344CB8AC3E}">
        <p14:creationId xmlns:p14="http://schemas.microsoft.com/office/powerpoint/2010/main" val="13851794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fade">
                                      <p:cBhvr>
                                        <p:cTn id="7" dur="500"/>
                                        <p:tgtEl>
                                          <p:spTgt spid="9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4"/>
                                        </p:tgtEl>
                                        <p:attrNameLst>
                                          <p:attrName>style.visibility</p:attrName>
                                        </p:attrNameLst>
                                      </p:cBhvr>
                                      <p:to>
                                        <p:strVal val="visible"/>
                                      </p:to>
                                    </p:set>
                                    <p:animEffect transition="in" filter="fade">
                                      <p:cBhvr>
                                        <p:cTn id="11"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onfettiVTI">
  <a:themeElements>
    <a:clrScheme name="Custom 30">
      <a:dk1>
        <a:sysClr val="windowText" lastClr="000000"/>
      </a:dk1>
      <a:lt1>
        <a:sysClr val="window" lastClr="FFFFFF"/>
      </a:lt1>
      <a:dk2>
        <a:srgbClr val="420023"/>
      </a:dk2>
      <a:lt2>
        <a:srgbClr val="FDFBF9"/>
      </a:lt2>
      <a:accent1>
        <a:srgbClr val="97446E"/>
      </a:accent1>
      <a:accent2>
        <a:srgbClr val="A40056"/>
      </a:accent2>
      <a:accent3>
        <a:srgbClr val="24BEEE"/>
      </a:accent3>
      <a:accent4>
        <a:srgbClr val="91274F"/>
      </a:accent4>
      <a:accent5>
        <a:srgbClr val="F39E29"/>
      </a:accent5>
      <a:accent6>
        <a:srgbClr val="E87450"/>
      </a:accent6>
      <a:hlink>
        <a:srgbClr val="F55D5D"/>
      </a:hlink>
      <a:folHlink>
        <a:srgbClr val="EA3A60"/>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ttiVTI" id="{B5618F7C-B4F0-4D28-83B4-440D0519681F}" vid="{5F84EFDF-E14E-48C6-955C-990A32085A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589</Words>
  <Application>Microsoft Office PowerPoint</Application>
  <PresentationFormat>Widescreen</PresentationFormat>
  <Paragraphs>47</Paragraphs>
  <Slides>7</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vt:i4>
      </vt:variant>
    </vt:vector>
  </HeadingPairs>
  <TitlesOfParts>
    <vt:vector size="17" baseType="lpstr">
      <vt:lpstr>Aptos</vt:lpstr>
      <vt:lpstr>Arial</vt:lpstr>
      <vt:lpstr>Calibri</vt:lpstr>
      <vt:lpstr>DM Sans</vt:lpstr>
      <vt:lpstr>Gill Sans Nova</vt:lpstr>
      <vt:lpstr>Segoe Sans Display</vt:lpstr>
      <vt:lpstr>Segoe Sans Display Semibold</vt:lpstr>
      <vt:lpstr>Segoe UI</vt:lpstr>
      <vt:lpstr>Segoe UI Semilight</vt:lpstr>
      <vt:lpstr>ConfettiVTI</vt:lpstr>
      <vt:lpstr>AI Agents and Compound AI Systems</vt:lpstr>
      <vt:lpstr>Just a Quick Look at Generative AI</vt:lpstr>
      <vt:lpstr>LLMs – Large Language Models</vt:lpstr>
      <vt:lpstr>Compound AI Systems</vt:lpstr>
      <vt:lpstr>AI Agents as Compound Systems</vt:lpstr>
      <vt:lpstr>From LLMs to AI Agents</vt:lpstr>
      <vt:lpstr>What is an agent?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Prabhjot Singh Bakshi</dc:creator>
  <cp:lastModifiedBy>kuljot bakshi</cp:lastModifiedBy>
  <cp:revision>2</cp:revision>
  <dcterms:created xsi:type="dcterms:W3CDTF">2025-01-23T04:18:37Z</dcterms:created>
  <dcterms:modified xsi:type="dcterms:W3CDTF">2026-05-08T06:29:07Z</dcterms:modified>
</cp:coreProperties>
</file>