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5" r:id="rId2"/>
    <p:sldId id="1798" r:id="rId3"/>
    <p:sldId id="214747980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3F42ED-27F0-4A93-99DD-926BD1529F62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804BE-D36B-434B-850F-A8EF3C179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60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B066AC-A0C6-461F-898E-DC0B365DC7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300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note that further modules for the customizable features are covered later in this section. Also, some of the prebuilt can be customized – info on that can be found on the docs pages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5E12198-D52A-4604-A7DE-05A0E5E96698}" type="datetime8">
              <a:rPr lang="en-US" smtClean="0"/>
              <a:t>5/7/2026 1:18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5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choose to deploy the service resources that best suit your needs: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a Microsoft Foundry hub and project for comprehensive AI development scenarios that include generative AI models and multiple AI services.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a Foundry Tools resource when you need to combine AI services and manage endpoints and access keys/permissions centrally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a Language resource when you only need prebuilt capabilities or to explore/test the service using a free tier SKU.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 any case, the Language API is accessed through an </a:t>
            </a:r>
            <a:r>
              <a:rPr lang="en-US" i="1" dirty="0"/>
              <a:t>endpoint</a:t>
            </a:r>
            <a:r>
              <a:rPr lang="en-US" i="0" dirty="0"/>
              <a:t> using either key-based authentication or Microsoft Entra ID authentication.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5/7/2026 1:19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666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056FF-35EB-A6F2-332D-98364AFD9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5243F-83DB-2C93-9CCD-C200A9013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FD506-E2A8-E899-803E-96B72FF74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4D763-3180-487D-7D3E-ABFA1EE0D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48276-F79B-458A-23FC-09D0C21B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6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4BA7-7486-E26A-38B4-5CB805DE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3C506-6932-8595-9DBE-2612CE6EB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487DD-1B42-9F58-32F9-064A8B37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11489-C297-01F1-0188-28676C060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F224-BC9B-BF0A-24B9-838BCA1A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75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89F24-E9FE-CE02-259D-4872DAC8B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39B28-2F51-0A0C-C1AF-AE7D47549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17852-DC29-51B8-DD68-883C12CA1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8A964-E6B4-5937-FCF6-056B71F7B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E7BEB-DBB8-2B51-B526-3D5795C9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89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2E308-7C40-1ABB-7008-00F2F7C1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70347-5B2C-E8C7-5A6D-3FC30AB76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5854CC-E90B-E996-A6BE-B96F7B0D8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CEE97-0C6F-4A13-6136-6E14FB39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803E4-F14B-BA48-D326-13DC304B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DBA2C-E3DF-1C0F-7EF5-DE1E669CD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232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D0EA-2E01-F32C-29FF-B5444B03F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8C6F1-7F56-A56C-B087-379C3D4E1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2AD87-D9C6-9E4B-A7DA-65ADB753C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60B29-C0D4-9F53-9E45-5D7F5D574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972239-DB9D-9EE4-7BDA-856B8E53C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1E0306-A984-AF7B-3564-C971EF564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907F6-1EEA-4D73-6997-6CDA2C65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98C45-2F50-11DE-5CF1-79AE7CC2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55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C806-17D5-A9BE-6E1A-CBE8102D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17233-1F09-5192-B4E4-BA5DC452D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B6BCD-E772-3047-294B-C7D10D1FA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D8A1B-D676-30BE-6D25-E4A2C0F4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54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DE04F9-3F7A-D522-110D-DE1D784E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EC9CB-ED66-0307-3D87-64996AA96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6D01A-C6E9-D997-419A-C1A4189C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25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0842-AA9D-3D57-50B4-5111CF5DE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EE831-44D2-6F09-A255-9DA22FA5F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C13C9-6B4C-B206-1B0D-0D7393018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1C162-D082-D2BB-A6A6-9D2195E9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C1E9D-9883-6B19-01E8-CB3B4237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A0C58-9DC7-78A4-6856-424D10E2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63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B120C-9755-71B5-0912-16E333A3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AE2DC2-5CE2-0AE6-F496-63564A0D4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B616E-FFE7-F1DB-6BFC-82598651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B6084-405B-736A-1766-64C823545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E1935-6382-AEE1-2B87-3A29267A4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34B23-0E5D-D0FF-30D2-94A5A30BC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86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629F-CC9C-BCDF-A99D-52B01153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42A2F-32EA-97E1-EBA3-9D85F9547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CCC53-8CF9-3317-212D-113C665E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128BA-B3DC-835A-C4EA-19FB01C45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A1730-8C5C-7E1E-E9B0-63D3C4DFF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47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A89B9D-59CB-6581-27B7-EF9444E38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D0E82-1AC8-DCFC-6128-D4DD82F42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72CC0-6C45-BE9A-57AB-EA6CABEDE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F35D8-AA88-418E-7CB7-3443C111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8222A-8103-FD1F-2FD7-E913E082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357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984885"/>
          </a:xfrm>
        </p:spPr>
        <p:txBody>
          <a:bodyPr/>
          <a:lstStyle>
            <a:lvl1pPr>
              <a:defRPr sz="32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736834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0852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45590-EB7F-2245-8B73-0D2FF86C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04BD2-BE12-F63A-FBD4-75C5B96FC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68593-D8F7-685B-FB8B-98DD2B60E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B1F5F-647A-4617-A8D3-5CD354D563E8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B4CF9-091A-A626-6F4E-449D4C443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B6D32-CBEC-0500-B0D4-BA79A8BF0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934AB-2F2D-4170-924F-A2E1B20B8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84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en.wikipedia.org/wiki/Manhattan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9C8F-4F13-8FD7-030A-62F0B67BF6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429000"/>
            <a:ext cx="9144000" cy="2387600"/>
          </a:xfrm>
        </p:spPr>
        <p:txBody>
          <a:bodyPr/>
          <a:lstStyle/>
          <a:p>
            <a:r>
              <a:rPr lang="en-US" dirty="0"/>
              <a:t>Azure Language Service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D174C-9480-F7C5-AEAC-B0DCE7176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58" y="631414"/>
            <a:ext cx="6645883" cy="373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1DC8-3147-4BB0-B44B-37EE38FF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82" y="197168"/>
            <a:ext cx="8861793" cy="984885"/>
          </a:xfrm>
        </p:spPr>
        <p:txBody>
          <a:bodyPr/>
          <a:lstStyle/>
          <a:p>
            <a:r>
              <a:rPr lang="en-US" dirty="0"/>
              <a:t>Introduction to natural language processing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6B650-0E57-FB88-A571-F39976BD5D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45100" cy="3718967"/>
          </a:xfrm>
        </p:spPr>
        <p:txBody>
          <a:bodyPr/>
          <a:lstStyle/>
          <a:p>
            <a:pPr marL="0" lvl="1" indent="0">
              <a:spcBef>
                <a:spcPts val="1200"/>
              </a:spcBef>
              <a:buNone/>
            </a:pPr>
            <a:r>
              <a:rPr lang="en-US" sz="2000" dirty="0"/>
              <a:t>Use preconfigured features for: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Pct val="100000"/>
            </a:pPr>
            <a:r>
              <a:rPr lang="en-US" sz="1800" dirty="0"/>
              <a:t>Language detection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Pct val="100000"/>
            </a:pPr>
            <a:r>
              <a:rPr lang="en-US" sz="1800" dirty="0"/>
              <a:t>Key phrase extraction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Pct val="100000"/>
            </a:pPr>
            <a:r>
              <a:rPr lang="en-US" sz="1800" dirty="0"/>
              <a:t>Sentiment analysis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Pct val="100000"/>
            </a:pPr>
            <a:r>
              <a:rPr lang="en-US" sz="1800" dirty="0"/>
              <a:t>Named entity recognition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Pct val="100000"/>
            </a:pPr>
            <a:r>
              <a:rPr lang="en-US" sz="1800" dirty="0"/>
              <a:t>Entity linking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Pct val="100000"/>
            </a:pPr>
            <a:r>
              <a:rPr lang="en-US" sz="1800" dirty="0"/>
              <a:t>Summarization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Pct val="100000"/>
            </a:pPr>
            <a:r>
              <a:rPr lang="en-US" sz="1800" dirty="0"/>
              <a:t>PII detection</a:t>
            </a:r>
          </a:p>
          <a:p>
            <a:pPr marL="339725" lvl="2" indent="-231775">
              <a:spcBef>
                <a:spcPts val="200"/>
              </a:spcBef>
              <a:spcAft>
                <a:spcPts val="400"/>
              </a:spcAft>
              <a:buSzPct val="100000"/>
            </a:pPr>
            <a:endParaRPr lang="en-US" sz="1800" dirty="0"/>
          </a:p>
          <a:p>
            <a:pPr marL="107950" lvl="2" indent="0">
              <a:spcBef>
                <a:spcPts val="200"/>
              </a:spcBef>
              <a:spcAft>
                <a:spcPts val="400"/>
              </a:spcAft>
              <a:buSzPct val="100000"/>
              <a:buNone/>
            </a:pPr>
            <a:r>
              <a:rPr lang="en-US" sz="1800" dirty="0"/>
              <a:t>Customizable models are available for specific use cases, and are covered in another section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20E227-719C-DBE9-4BD3-FE7B29D91AF9}"/>
              </a:ext>
            </a:extLst>
          </p:cNvPr>
          <p:cNvGrpSpPr/>
          <p:nvPr/>
        </p:nvGrpSpPr>
        <p:grpSpPr>
          <a:xfrm>
            <a:off x="7315200" y="804907"/>
            <a:ext cx="4876800" cy="3604425"/>
            <a:chOff x="5901082" y="995995"/>
            <a:chExt cx="6527080" cy="4972836"/>
          </a:xfrm>
        </p:grpSpPr>
        <p:grpSp>
          <p:nvGrpSpPr>
            <p:cNvPr id="6" name="Group 5" descr="Diagram showing Azure AI Language features.">
              <a:extLst>
                <a:ext uri="{FF2B5EF4-FFF2-40B4-BE49-F238E27FC236}">
                  <a16:creationId xmlns:a16="http://schemas.microsoft.com/office/drawing/2014/main" id="{94409C27-2623-95C8-B41A-66CBFA45D50C}"/>
                </a:ext>
              </a:extLst>
            </p:cNvPr>
            <p:cNvGrpSpPr/>
            <p:nvPr/>
          </p:nvGrpSpPr>
          <p:grpSpPr>
            <a:xfrm>
              <a:off x="5901082" y="995995"/>
              <a:ext cx="6527080" cy="4972836"/>
              <a:chOff x="5901082" y="995995"/>
              <a:chExt cx="6527080" cy="497283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9F8348E-F560-4748-A41D-EA6A11876871}"/>
                  </a:ext>
                </a:extLst>
              </p:cNvPr>
              <p:cNvSpPr txBox="1"/>
              <p:nvPr/>
            </p:nvSpPr>
            <p:spPr>
              <a:xfrm>
                <a:off x="5901082" y="2582435"/>
                <a:ext cx="1831271" cy="489365"/>
              </a:xfrm>
              <a:prstGeom prst="rect">
                <a:avLst/>
              </a:prstGeom>
              <a:noFill/>
            </p:spPr>
            <p:txBody>
              <a:bodyPr wrap="none" lIns="182880" tIns="146304" rIns="182880" bIns="146304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400" dirty="0"/>
                  <a:t>Language=English</a:t>
                </a:r>
              </a:p>
            </p:txBody>
          </p:sp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12A58C78-9536-499A-84B9-BE330F4EAB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36371" y="4222676"/>
                <a:ext cx="1" cy="505163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" name="Graphic 6" descr="Document with solid fill">
                <a:extLst>
                  <a:ext uri="{FF2B5EF4-FFF2-40B4-BE49-F238E27FC236}">
                    <a16:creationId xmlns:a16="http://schemas.microsoft.com/office/drawing/2014/main" id="{BBB46B63-2CF5-4E1C-9C1B-16C0E9F509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943574" y="4688340"/>
                <a:ext cx="1280491" cy="1280491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B365E7E-97C5-4DA5-9BBC-A1C0ED6D3215}"/>
                  </a:ext>
                </a:extLst>
              </p:cNvPr>
              <p:cNvSpPr txBox="1"/>
              <p:nvPr/>
            </p:nvSpPr>
            <p:spPr>
              <a:xfrm>
                <a:off x="6898843" y="1139710"/>
                <a:ext cx="1456168" cy="1031051"/>
              </a:xfrm>
              <a:prstGeom prst="rect">
                <a:avLst/>
              </a:prstGeom>
              <a:noFill/>
            </p:spPr>
            <p:txBody>
              <a:bodyPr wrap="none" lIns="182880" tIns="146304" rIns="182880" bIns="146304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400" dirty="0"/>
                  <a:t>Key Phrases: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400" dirty="0"/>
                  <a:t>    “the news”,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400" dirty="0"/>
                  <a:t>    “New York”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95A28C1-518B-40AC-A0F3-A9E43E237FA4}"/>
                  </a:ext>
                </a:extLst>
              </p:cNvPr>
              <p:cNvSpPr txBox="1"/>
              <p:nvPr/>
            </p:nvSpPr>
            <p:spPr>
              <a:xfrm>
                <a:off x="9450054" y="2557477"/>
                <a:ext cx="1942198" cy="489365"/>
              </a:xfrm>
              <a:prstGeom prst="rect">
                <a:avLst/>
              </a:prstGeom>
              <a:noFill/>
            </p:spPr>
            <p:txBody>
              <a:bodyPr wrap="none" lIns="182880" tIns="146304" rIns="182880" bIns="146304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400" dirty="0"/>
                  <a:t>Sentiment=Positive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839E4E-5A7E-453D-AD2C-CB12C1C74CC7}"/>
                  </a:ext>
                </a:extLst>
              </p:cNvPr>
              <p:cNvSpPr txBox="1"/>
              <p:nvPr/>
            </p:nvSpPr>
            <p:spPr>
              <a:xfrm>
                <a:off x="8355010" y="995995"/>
                <a:ext cx="4073152" cy="1366491"/>
              </a:xfrm>
              <a:prstGeom prst="rect">
                <a:avLst/>
              </a:prstGeom>
              <a:noFill/>
            </p:spPr>
            <p:txBody>
              <a:bodyPr wrap="square" lIns="182880" tIns="146304" rIns="182880" bIns="146304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400" dirty="0"/>
                  <a:t>Entities: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400" dirty="0"/>
                  <a:t>    </a:t>
                </a:r>
                <a:r>
                  <a:rPr lang="sv-SE" sz="1400" dirty="0"/>
                  <a:t>Manhattan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sv-SE" sz="110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    (</a:t>
                </a:r>
                <a:r>
                  <a:rPr lang="sv-SE" sz="110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  <a:hlinkClick r:id="rId4"/>
                  </a:rPr>
                  <a:t>https://en.wikipedia.org/wiki/Manhattan</a:t>
                </a:r>
                <a:r>
                  <a:rPr lang="sv-SE" sz="1100" dirty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)</a:t>
                </a:r>
                <a:endParaRPr lang="en-US" sz="1100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DB51C3A-21B6-4AA1-9CE7-4475BAAD05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183230" y="2995809"/>
                <a:ext cx="696649" cy="360354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96033A2-20BE-4AAA-AC0A-C2907B78FB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047934" y="2384865"/>
                <a:ext cx="307076" cy="698966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8080F88-8710-4F7F-A5FC-53C6822569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68150" y="2404000"/>
                <a:ext cx="293877" cy="712600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37F7D17-68E3-4817-9465-D148EC5886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56177" y="2938796"/>
                <a:ext cx="661919" cy="388810"/>
              </a:xfrm>
              <a:prstGeom prst="straightConnector1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  <a:headEnd type="none"/>
                <a:tailEnd type="triangle" w="med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Picture 9" descr="A blue square with a black square&#10;&#10;AI-generated content may be incorrect.">
              <a:extLst>
                <a:ext uri="{FF2B5EF4-FFF2-40B4-BE49-F238E27FC236}">
                  <a16:creationId xmlns:a16="http://schemas.microsoft.com/office/drawing/2014/main" id="{97F9B897-F7C3-7AC2-959A-6A64E1C39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42487" y="2976820"/>
              <a:ext cx="1368716" cy="1368716"/>
            </a:xfrm>
            <a:prstGeom prst="rect">
              <a:avLst/>
            </a:prstGeom>
          </p:spPr>
        </p:pic>
      </p:grpSp>
      <p:pic>
        <p:nvPicPr>
          <p:cNvPr id="1026" name="Picture 2" descr="Entity linking - Wikipedia">
            <a:extLst>
              <a:ext uri="{FF2B5EF4-FFF2-40B4-BE49-F238E27FC236}">
                <a16:creationId xmlns:a16="http://schemas.microsoft.com/office/drawing/2014/main" id="{892FA41B-E789-AD0B-17D3-F03229339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402" y="5006114"/>
            <a:ext cx="3267182" cy="168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22934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C9004-A8CE-BB57-E0AF-E06945E99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49244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Azure Language resources for preconfigured features</a:t>
            </a: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873755CD-D014-8765-7E23-549F6023E3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245553" y="1594391"/>
            <a:ext cx="6298747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Clr>
                <a:schemeClr val="accent2">
                  <a:lumMod val="75000"/>
                </a:schemeClr>
              </a:buClr>
            </a:pPr>
            <a:r>
              <a:rPr lang="en-US" sz="22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Choose from these deployment options:</a:t>
            </a:r>
          </a:p>
          <a:p>
            <a:pPr algn="l">
              <a:spcAft>
                <a:spcPts val="600"/>
              </a:spcAft>
              <a:buClr>
                <a:schemeClr val="accent2">
                  <a:lumMod val="75000"/>
                </a:schemeClr>
              </a:buClr>
            </a:pPr>
            <a:endParaRPr lang="en-US" sz="1000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marL="746125" indent="-342900" algn="l">
              <a:spcAft>
                <a:spcPts val="12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 Microsoft</a:t>
            </a:r>
            <a:r>
              <a:rPr lang="en-US" sz="20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 Foundry </a:t>
            </a:r>
            <a:r>
              <a:rPr lang="en-US" sz="200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resource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, which contains…</a:t>
            </a:r>
          </a:p>
          <a:p>
            <a:pPr marL="746125" indent="-342900" algn="l">
              <a:spcAft>
                <a:spcPts val="12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 </a:t>
            </a:r>
            <a:r>
              <a:rPr lang="en-US" sz="20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Foundry Tools 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resource, which includes…</a:t>
            </a:r>
          </a:p>
          <a:p>
            <a:pPr marL="746125" indent="-342900" algn="l">
              <a:spcAft>
                <a:spcPts val="1200"/>
              </a:spcAft>
              <a:buClr>
                <a:schemeClr val="accent2">
                  <a:lumMod val="75000"/>
                </a:schemeClr>
              </a:buClr>
              <a:buFont typeface="+mj-lt"/>
              <a:buAutoNum type="arabicPeriod"/>
            </a:pP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A </a:t>
            </a:r>
            <a:r>
              <a:rPr lang="en-US" sz="20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Language </a:t>
            </a:r>
            <a:r>
              <a:rPr lang="en-US" sz="20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service resource</a:t>
            </a:r>
          </a:p>
        </p:txBody>
      </p:sp>
      <p:sp>
        <p:nvSpPr>
          <p:cNvPr id="1036" name="Right Brace 1035">
            <a:extLst>
              <a:ext uri="{FF2B5EF4-FFF2-40B4-BE49-F238E27FC236}">
                <a16:creationId xmlns:a16="http://schemas.microsoft.com/office/drawing/2014/main" id="{323BC20B-623C-CB04-5390-D2704614D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66310" y="2388553"/>
            <a:ext cx="284516" cy="2637119"/>
          </a:xfrm>
          <a:prstGeom prst="rightBrace">
            <a:avLst>
              <a:gd name="adj1" fmla="val 0"/>
              <a:gd name="adj2" fmla="val 77161"/>
            </a:avLst>
          </a:prstGeom>
          <a:ln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8" name="Graphic 1037">
            <a:extLst>
              <a:ext uri="{FF2B5EF4-FFF2-40B4-BE49-F238E27FC236}">
                <a16:creationId xmlns:a16="http://schemas.microsoft.com/office/drawing/2014/main" id="{F4BFDD79-51F6-5732-F50B-66F070B3F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3737" y="4172061"/>
            <a:ext cx="457200" cy="457200"/>
          </a:xfrm>
          <a:prstGeom prst="rect">
            <a:avLst/>
          </a:prstGeom>
        </p:spPr>
      </p:pic>
      <p:sp>
        <p:nvSpPr>
          <p:cNvPr id="1041" name="TextBox 1040">
            <a:extLst>
              <a:ext uri="{FF2B5EF4-FFF2-40B4-BE49-F238E27FC236}">
                <a16:creationId xmlns:a16="http://schemas.microsoft.com/office/drawing/2014/main" id="{8C144538-9D97-0CE0-5A85-A6F5C3669101}"/>
              </a:ext>
            </a:extLst>
          </p:cNvPr>
          <p:cNvSpPr txBox="1"/>
          <p:nvPr/>
        </p:nvSpPr>
        <p:spPr>
          <a:xfrm>
            <a:off x="4515427" y="3954741"/>
            <a:ext cx="63318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200" dirty="0">
                <a:latin typeface="+mj-lt"/>
              </a:rPr>
              <a:t>Endpoint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539C78AA-C634-8CF6-9110-C4CC9ADD69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946276" y="4206657"/>
            <a:ext cx="4749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161616"/>
                </a:solidFill>
                <a:effectLst/>
                <a:latin typeface="SFMono-Regular"/>
              </a:rPr>
              <a:t>https://&lt;resource_name&gt;.cognitiveservices.azure.com/</a:t>
            </a:r>
            <a:endParaRPr lang="en-US" sz="1600" i="1" dirty="0"/>
          </a:p>
        </p:txBody>
      </p:sp>
      <p:grpSp>
        <p:nvGrpSpPr>
          <p:cNvPr id="6" name="Group 5" descr="Diagram showing either key or Entra authorization.">
            <a:extLst>
              <a:ext uri="{FF2B5EF4-FFF2-40B4-BE49-F238E27FC236}">
                <a16:creationId xmlns:a16="http://schemas.microsoft.com/office/drawing/2014/main" id="{C34078C7-7A3E-167D-DA0A-09464B6FD3BA}"/>
              </a:ext>
            </a:extLst>
          </p:cNvPr>
          <p:cNvGrpSpPr/>
          <p:nvPr/>
        </p:nvGrpSpPr>
        <p:grpSpPr>
          <a:xfrm>
            <a:off x="5847449" y="4545211"/>
            <a:ext cx="2924440" cy="1747234"/>
            <a:chOff x="5847449" y="4545211"/>
            <a:chExt cx="2924440" cy="1747234"/>
          </a:xfrm>
        </p:grpSpPr>
        <p:cxnSp>
          <p:nvCxnSpPr>
            <p:cNvPr id="1059" name="Straight Arrow Connector 1048">
              <a:extLst>
                <a:ext uri="{FF2B5EF4-FFF2-40B4-BE49-F238E27FC236}">
                  <a16:creationId xmlns:a16="http://schemas.microsoft.com/office/drawing/2014/main" id="{924C549C-38F7-EA6C-6E5B-29673A5CEE5C}"/>
                </a:ext>
              </a:extLst>
            </p:cNvPr>
            <p:cNvCxnSpPr>
              <a:cxnSpLocks/>
              <a:stCxn id="1047" idx="3"/>
              <a:endCxn id="1040" idx="2"/>
            </p:cNvCxnSpPr>
            <p:nvPr/>
          </p:nvCxnSpPr>
          <p:spPr>
            <a:xfrm flipV="1">
              <a:off x="6823510" y="4545211"/>
              <a:ext cx="497438" cy="788896"/>
            </a:xfrm>
            <a:prstGeom prst="bentConnector2">
              <a:avLst/>
            </a:prstGeom>
            <a:ln w="28575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011BBA1-90F3-7214-D9D4-4A7BCDEBAB8C}"/>
                </a:ext>
              </a:extLst>
            </p:cNvPr>
            <p:cNvGrpSpPr/>
            <p:nvPr/>
          </p:nvGrpSpPr>
          <p:grpSpPr>
            <a:xfrm>
              <a:off x="5847449" y="4545211"/>
              <a:ext cx="2924440" cy="1747234"/>
              <a:chOff x="5847449" y="4545211"/>
              <a:chExt cx="2924440" cy="1747234"/>
            </a:xfrm>
          </p:grpSpPr>
          <p:pic>
            <p:nvPicPr>
              <p:cNvPr id="1043" name="Graphic 1042" descr="Programmer male with solid fill">
                <a:extLst>
                  <a:ext uri="{FF2B5EF4-FFF2-40B4-BE49-F238E27FC236}">
                    <a16:creationId xmlns:a16="http://schemas.microsoft.com/office/drawing/2014/main" id="{89DDB244-B67B-CC0E-0E9A-9F6F4DD20C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807910" y="537804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045" name="Graphic 1044" descr="Employee badge with solid fill">
                <a:extLst>
                  <a:ext uri="{FF2B5EF4-FFF2-40B4-BE49-F238E27FC236}">
                    <a16:creationId xmlns:a16="http://schemas.microsoft.com/office/drawing/2014/main" id="{D8A07F36-04C6-2EFC-ADB3-1E6C83E4D9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727847" y="5038921"/>
                <a:ext cx="575132" cy="575132"/>
              </a:xfrm>
              <a:prstGeom prst="rect">
                <a:avLst/>
              </a:prstGeom>
            </p:spPr>
          </p:pic>
          <p:pic>
            <p:nvPicPr>
              <p:cNvPr id="1047" name="Graphic 1046" descr="Key with solid fill">
                <a:extLst>
                  <a:ext uri="{FF2B5EF4-FFF2-40B4-BE49-F238E27FC236}">
                    <a16:creationId xmlns:a16="http://schemas.microsoft.com/office/drawing/2014/main" id="{EAD5756D-2761-8061-7E16-89855F4A92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248378" y="5046541"/>
                <a:ext cx="575132" cy="575132"/>
              </a:xfrm>
              <a:prstGeom prst="rect">
                <a:avLst/>
              </a:prstGeom>
            </p:spPr>
          </p:pic>
          <p:cxnSp>
            <p:nvCxnSpPr>
              <p:cNvPr id="1049" name="Straight Arrow Connector 1048">
                <a:extLst>
                  <a:ext uri="{FF2B5EF4-FFF2-40B4-BE49-F238E27FC236}">
                    <a16:creationId xmlns:a16="http://schemas.microsoft.com/office/drawing/2014/main" id="{B21A5CCF-2BAE-4604-FB81-8070906A43D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542297" y="5510089"/>
                <a:ext cx="349162" cy="325158"/>
              </a:xfrm>
              <a:prstGeom prst="bentConnector3">
                <a:avLst>
                  <a:gd name="adj1" fmla="val 91465"/>
                </a:avLst>
              </a:prstGeom>
              <a:ln w="28575">
                <a:solidFill>
                  <a:srgbClr val="00B0F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Straight Arrow Connector 1048">
                <a:extLst>
                  <a:ext uri="{FF2B5EF4-FFF2-40B4-BE49-F238E27FC236}">
                    <a16:creationId xmlns:a16="http://schemas.microsoft.com/office/drawing/2014/main" id="{DC7027E8-76EB-D3E0-53B6-49E3CBABFC2D}"/>
                  </a:ext>
                </a:extLst>
              </p:cNvPr>
              <p:cNvCxnSpPr>
                <a:cxnSpLocks/>
                <a:endCxn id="1045" idx="2"/>
              </p:cNvCxnSpPr>
              <p:nvPr/>
            </p:nvCxnSpPr>
            <p:spPr>
              <a:xfrm flipV="1">
                <a:off x="7592499" y="5614053"/>
                <a:ext cx="422914" cy="221195"/>
              </a:xfrm>
              <a:prstGeom prst="bentConnector2">
                <a:avLst/>
              </a:prstGeom>
              <a:ln w="28575">
                <a:solidFill>
                  <a:srgbClr val="00B0F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2" name="Straight Arrow Connector 1048">
                <a:extLst>
                  <a:ext uri="{FF2B5EF4-FFF2-40B4-BE49-F238E27FC236}">
                    <a16:creationId xmlns:a16="http://schemas.microsoft.com/office/drawing/2014/main" id="{4AFF7C39-9C84-8D0E-B6C7-0BF0AFD385DA}"/>
                  </a:ext>
                </a:extLst>
              </p:cNvPr>
              <p:cNvCxnSpPr>
                <a:cxnSpLocks/>
                <a:stCxn id="1045" idx="1"/>
                <a:endCxn id="1040" idx="2"/>
              </p:cNvCxnSpPr>
              <p:nvPr/>
            </p:nvCxnSpPr>
            <p:spPr>
              <a:xfrm rot="10800000">
                <a:off x="7320949" y="4545211"/>
                <a:ext cx="406899" cy="781276"/>
              </a:xfrm>
              <a:prstGeom prst="bentConnector2">
                <a:avLst/>
              </a:prstGeom>
              <a:ln w="28575">
                <a:solidFill>
                  <a:srgbClr val="00B0F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3" name="TextBox 1082">
                <a:extLst>
                  <a:ext uri="{FF2B5EF4-FFF2-40B4-BE49-F238E27FC236}">
                    <a16:creationId xmlns:a16="http://schemas.microsoft.com/office/drawing/2014/main" id="{0FE5D0D2-82F1-72D0-DE81-62C3E79C9C66}"/>
                  </a:ext>
                </a:extLst>
              </p:cNvPr>
              <p:cNvSpPr txBox="1"/>
              <p:nvPr/>
            </p:nvSpPr>
            <p:spPr>
              <a:xfrm>
                <a:off x="5847449" y="4974882"/>
                <a:ext cx="1251753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200" dirty="0">
                    <a:latin typeface="+mj-lt"/>
                  </a:rPr>
                  <a:t>Authorization Key</a:t>
                </a:r>
              </a:p>
            </p:txBody>
          </p:sp>
          <p:sp>
            <p:nvSpPr>
              <p:cNvPr id="1084" name="TextBox 1083">
                <a:extLst>
                  <a:ext uri="{FF2B5EF4-FFF2-40B4-BE49-F238E27FC236}">
                    <a16:creationId xmlns:a16="http://schemas.microsoft.com/office/drawing/2014/main" id="{CC9E1E83-DE8B-8101-E47D-17C1367EF998}"/>
                  </a:ext>
                </a:extLst>
              </p:cNvPr>
              <p:cNvSpPr txBox="1"/>
              <p:nvPr/>
            </p:nvSpPr>
            <p:spPr>
              <a:xfrm>
                <a:off x="7500131" y="4957264"/>
                <a:ext cx="127175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1200" dirty="0">
                    <a:latin typeface="+mj-lt"/>
                  </a:rPr>
                  <a:t>Microsoft Entra ID</a:t>
                </a: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42B1B88-AFB0-3B61-76D2-B586C75D5CF7}"/>
              </a:ext>
            </a:extLst>
          </p:cNvPr>
          <p:cNvGrpSpPr/>
          <p:nvPr/>
        </p:nvGrpSpPr>
        <p:grpSpPr>
          <a:xfrm>
            <a:off x="842714" y="1857181"/>
            <a:ext cx="3296963" cy="3148988"/>
            <a:chOff x="842714" y="1857181"/>
            <a:chExt cx="3296963" cy="314898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D38EF2E-7650-C41F-B076-67859D3F4FF1}"/>
                </a:ext>
              </a:extLst>
            </p:cNvPr>
            <p:cNvGrpSpPr/>
            <p:nvPr/>
          </p:nvGrpSpPr>
          <p:grpSpPr>
            <a:xfrm>
              <a:off x="842714" y="1857181"/>
              <a:ext cx="3296963" cy="3148988"/>
              <a:chOff x="842714" y="1857181"/>
              <a:chExt cx="3296963" cy="3148988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1A0D85A8-8570-96D9-A4B5-BAC54C9066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42714" y="1857181"/>
                <a:ext cx="3296963" cy="3148988"/>
                <a:chOff x="621895" y="1354261"/>
                <a:chExt cx="3296963" cy="3148988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D7F5E6C-99E9-2D70-8531-8F59867F8CB5}"/>
                    </a:ext>
                  </a:extLst>
                </p:cNvPr>
                <p:cNvSpPr/>
                <p:nvPr/>
              </p:nvSpPr>
              <p:spPr>
                <a:xfrm>
                  <a:off x="1042538" y="1885633"/>
                  <a:ext cx="2876320" cy="2617616"/>
                </a:xfrm>
                <a:prstGeom prst="rect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ysClr val="window" lastClr="FFFFFF">
                      <a:lumMod val="85000"/>
                    </a:sysClr>
                  </a:solidFill>
                  <a:prstDash val="dash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pic>
              <p:nvPicPr>
                <p:cNvPr id="54" name="Graphic 53">
                  <a:extLst>
                    <a:ext uri="{FF2B5EF4-FFF2-40B4-BE49-F238E27FC236}">
                      <a16:creationId xmlns:a16="http://schemas.microsoft.com/office/drawing/2014/main" id="{A59A1E14-4155-6BFE-360A-C95BA63472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3175" y="1354261"/>
                  <a:ext cx="946842" cy="946842"/>
                </a:xfrm>
                <a:prstGeom prst="rect">
                  <a:avLst/>
                </a:prstGeom>
              </p:spPr>
            </p:pic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047A461-DCDD-E2AC-A074-38DDAA031D1A}"/>
                    </a:ext>
                  </a:extLst>
                </p:cNvPr>
                <p:cNvSpPr/>
                <p:nvPr/>
              </p:nvSpPr>
              <p:spPr>
                <a:xfrm>
                  <a:off x="2018726" y="2759812"/>
                  <a:ext cx="1529327" cy="1502806"/>
                </a:xfrm>
                <a:prstGeom prst="rect">
                  <a:avLst/>
                </a:prstGeom>
                <a:solidFill>
                  <a:sysClr val="window" lastClr="FFFFFF"/>
                </a:solidFill>
                <a:ln w="19050" cap="flat" cmpd="sng" algn="ctr">
                  <a:solidFill>
                    <a:sysClr val="window" lastClr="FFFFFF">
                      <a:lumMod val="85000"/>
                    </a:sysClr>
                  </a:solidFill>
                  <a:prstDash val="dash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AC1D01B3-D93F-3A59-EE93-C637FFFDD461}"/>
                    </a:ext>
                  </a:extLst>
                </p:cNvPr>
                <p:cNvSpPr/>
                <p:nvPr/>
              </p:nvSpPr>
              <p:spPr>
                <a:xfrm>
                  <a:off x="1499067" y="2374995"/>
                  <a:ext cx="1003778" cy="886900"/>
                </a:xfrm>
                <a:prstGeom prst="rect">
                  <a:avLst/>
                </a:prstGeom>
                <a:solidFill>
                  <a:sysClr val="window" lastClr="FFFFFF"/>
                </a:solidFill>
                <a:ln w="190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pic>
              <p:nvPicPr>
                <p:cNvPr id="58" name="Graphic 57" descr="Badge with solid fill">
                  <a:extLst>
                    <a:ext uri="{FF2B5EF4-FFF2-40B4-BE49-F238E27FC236}">
                      <a16:creationId xmlns:a16="http://schemas.microsoft.com/office/drawing/2014/main" id="{526F3F5D-7945-5EC9-95AE-C20737E3AE7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241391" y="2453179"/>
                  <a:ext cx="325751" cy="325751"/>
                </a:xfrm>
                <a:prstGeom prst="rect">
                  <a:avLst/>
                </a:prstGeom>
              </p:spPr>
            </p:pic>
            <p:pic>
              <p:nvPicPr>
                <p:cNvPr id="59" name="Graphic 58" descr="Badge 3 with solid fill">
                  <a:extLst>
                    <a:ext uri="{FF2B5EF4-FFF2-40B4-BE49-F238E27FC236}">
                      <a16:creationId xmlns:a16="http://schemas.microsoft.com/office/drawing/2014/main" id="{EBE4B5AB-E605-283D-8EC2-455D53B6F2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01879" y="3353516"/>
                  <a:ext cx="325751" cy="325751"/>
                </a:xfrm>
                <a:prstGeom prst="rect">
                  <a:avLst/>
                </a:prstGeom>
              </p:spPr>
            </p:pic>
            <p:pic>
              <p:nvPicPr>
                <p:cNvPr id="60" name="Graphic 59" descr="Badge 1 with solid fill">
                  <a:extLst>
                    <a:ext uri="{FF2B5EF4-FFF2-40B4-BE49-F238E27FC236}">
                      <a16:creationId xmlns:a16="http://schemas.microsoft.com/office/drawing/2014/main" id="{E3A27192-2C1E-95A5-FADE-BAD75D8E1B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1895" y="1354261"/>
                  <a:ext cx="325751" cy="325751"/>
                </a:xfrm>
                <a:prstGeom prst="rect">
                  <a:avLst/>
                </a:prstGeom>
              </p:spPr>
            </p:pic>
          </p:grpSp>
          <p:pic>
            <p:nvPicPr>
              <p:cNvPr id="12" name="Picture 11" descr="A blue ribbon in a shape of a star&#10;&#10;AI-generated content may be incorrect.">
                <a:extLst>
                  <a:ext uri="{FF2B5EF4-FFF2-40B4-BE49-F238E27FC236}">
                    <a16:creationId xmlns:a16="http://schemas.microsoft.com/office/drawing/2014/main" id="{78DB5C60-84CF-C362-321C-43AC661006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86734" y="2712659"/>
                <a:ext cx="1099799" cy="1099799"/>
              </a:xfrm>
              <a:prstGeom prst="rect">
                <a:avLst/>
              </a:prstGeom>
            </p:spPr>
          </p:pic>
        </p:grpSp>
        <p:pic>
          <p:nvPicPr>
            <p:cNvPr id="3" name="Language Understanding">
              <a:extLst>
                <a:ext uri="{FF2B5EF4-FFF2-40B4-BE49-F238E27FC236}">
                  <a16:creationId xmlns:a16="http://schemas.microsoft.com/office/drawing/2014/main" id="{71F159E5-E705-B4CF-740A-7A86BD9DF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783438" y="4060223"/>
              <a:ext cx="457550" cy="457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23207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327</Words>
  <Application>Microsoft Office PowerPoint</Application>
  <PresentationFormat>Widescreen</PresentationFormat>
  <Paragraphs>44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Segoe UI</vt:lpstr>
      <vt:lpstr>SFMono-Regular</vt:lpstr>
      <vt:lpstr>Office Theme</vt:lpstr>
      <vt:lpstr>Azure Language Service</vt:lpstr>
      <vt:lpstr>Introduction to natural language processing</vt:lpstr>
      <vt:lpstr>Azure Language resources for preconfigured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2026-05-07T07:47:34Z</dcterms:created>
  <dcterms:modified xsi:type="dcterms:W3CDTF">2026-05-07T07:50:10Z</dcterms:modified>
</cp:coreProperties>
</file>