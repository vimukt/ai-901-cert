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5" r:id="rId2"/>
    <p:sldId id="421" r:id="rId3"/>
    <p:sldId id="424" r:id="rId4"/>
    <p:sldId id="474" r:id="rId5"/>
    <p:sldId id="476" r:id="rId6"/>
    <p:sldId id="47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3759AE-4064-49FF-A23D-4B27753FF9D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B066AC-A0C6-461F-898E-DC0B365DC7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633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B066AC-A0C6-461F-898E-DC0B365DC7C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300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By integrating AI capabilities into the tools they already know and love, we can enable developers to seamlessly build and manage AI applications within their existing workflows. This native integration creates a frictionless adoption path, making AI development more accessible than ever.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FC257BF-FA33-4AA2-8842-3F64C80D1B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3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4980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963E2-83D5-8CC8-D4FD-1027598454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39A1D5-9B3B-223E-5A26-24266A999C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4C244-CD4C-5A5D-7B81-0B6EDF434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00CB-3DF5-46D0-8F8B-B25BA5C6C4F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FE59D-88E4-76E6-84EC-96EFC7F07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CECF0-E2CD-F506-31A6-659EB5A92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C2D95-5A15-4672-B7E3-2CCF11B9BC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339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BEFDA-5039-B8B4-D725-5ECD44D08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83B55-0EB9-51B9-7DD6-FF82DE31F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DD823-A207-F98B-7AA4-BE7438765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00CB-3DF5-46D0-8F8B-B25BA5C6C4F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E90DA-07C5-FA8C-DF6D-97F4E9E2E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6542D-0CEB-4654-36D7-04A4C2ADF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C2D95-5A15-4672-B7E3-2CCF11B9BC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454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EAAF1-9257-E90E-5525-B6DC083D8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C749A-5E92-04B0-2FEB-A492903F0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99CDB-3DA7-FD75-5DB6-E7A4A3931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00CB-3DF5-46D0-8F8B-B25BA5C6C4F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E8995-124B-418C-4865-BF11E1955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5731A-19B7-38C9-FCC7-4CBE7E7D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C2D95-5A15-4672-B7E3-2CCF11B9BC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861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5EBA9-FA17-E52F-5505-1982E8209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AC948-C689-D46C-73B3-F4B69B864F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80E21B-80B3-EC2C-314B-41D0490CDB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EFE2B7-D4D7-CCAF-ABBB-18B19A8E1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00CB-3DF5-46D0-8F8B-B25BA5C6C4F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B2517A-0BAC-7656-B677-64D0462E8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7C544-2A0C-A5B6-B9D8-95D1212CB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C2D95-5A15-4672-B7E3-2CCF11B9BC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4700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3EE99-CCE5-ECC5-C065-BBAABFDD5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CE86E-71E8-2C16-A8B1-EBCECEF4D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32F3B5-1A5B-E877-FFCF-10CBA97BC8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11EA91-B35C-6C4A-C42C-0F25310AF1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41A775-3865-BB57-B009-617CA844CB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130C83-A48C-4EC3-C007-76BEF6507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00CB-3DF5-46D0-8F8B-B25BA5C6C4F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074DCB-1524-B7BC-23E1-F60357DE2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4AEEDB-0F0D-7F66-A58E-D1826C4C7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C2D95-5A15-4672-B7E3-2CCF11B9BC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962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DB92C-EBC2-50DA-FC48-DAE9B669C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E7E78A-F86A-C895-41CD-5E005F29A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00CB-3DF5-46D0-8F8B-B25BA5C6C4F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2C22E6-7980-C6CD-C7D3-6B53BC236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2EBEF5-F9F7-AFA7-B1BF-CFB99025B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C2D95-5A15-4672-B7E3-2CCF11B9BC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110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6F41E2-FE41-1D74-3D91-B2C1171D6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00CB-3DF5-46D0-8F8B-B25BA5C6C4F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1D264B-EBBD-EB05-7E47-C25C466F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B5ABC-BCAD-1833-D45D-5627CB3C5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C2D95-5A15-4672-B7E3-2CCF11B9BC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555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0D2CF-C43E-5B92-B86B-11956E993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57F74-1A52-7797-F66F-C749FF6D6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CF33BF-7E0C-9A0D-25B6-286BF4EEC4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07BAA-EBFD-4B80-76C9-F5D414882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00CB-3DF5-46D0-8F8B-B25BA5C6C4F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0B80EE-27B8-CB95-CDFF-C38D2E097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7294E3-FD1E-2859-A8BA-E6CBFEE73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C2D95-5A15-4672-B7E3-2CCF11B9BC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732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BCA1B-2DD4-0395-6C1A-46E56CDDA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4B03CF-D55E-2D64-A374-F69BCD757E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78E3C9-FA77-CCD1-9BFB-AEAB9F2CC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636C48-D7A3-5F71-629B-1513473F3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00CB-3DF5-46D0-8F8B-B25BA5C6C4F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8E1ED-C096-5456-2C75-A5A7B561B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05E6DC-4234-B62E-9EA3-74A758489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C2D95-5A15-4672-B7E3-2CCF11B9BC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689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30B9A-98BA-9FDB-A140-6C496D2F0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7ED56F-3B8E-D7CC-6A22-B2EE7D2BC2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2D7D4-EF74-F04C-E76C-B40F30E15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00CB-3DF5-46D0-8F8B-B25BA5C6C4F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A3A51-C34E-D0FD-4265-C758478F2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A541D-C9A3-7B13-312E-CC8EBF285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C2D95-5A15-4672-B7E3-2CCF11B9BC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057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CC75D2-CB3F-EEE4-3F0E-27F574AB8C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09F686-0A5E-8F14-A2FE-2B0B331B8B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538FC-60A2-DDB4-B6DA-F63B3F211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00CB-3DF5-46D0-8F8B-B25BA5C6C4F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CBA0E-B377-999F-D280-126AFCEF7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AEA17-C2D3-3FFE-5AAA-260F7946A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C2D95-5A15-4672-B7E3-2CCF11B9BC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176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F389-8D73-21B6-7A6F-40C505B15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A1AA302-6427-5A2A-2570-F6356F623975}"/>
              </a:ext>
            </a:extLst>
          </p:cNvPr>
          <p:cNvGrpSpPr/>
          <p:nvPr userDrawn="1"/>
        </p:nvGrpSpPr>
        <p:grpSpPr>
          <a:xfrm>
            <a:off x="0" y="6701742"/>
            <a:ext cx="12191998" cy="156259"/>
            <a:chOff x="0" y="6701740"/>
            <a:chExt cx="12192000" cy="15625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3166A68-7012-E2DA-EB48-B898E32F12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7808"/>
            <a:stretch>
              <a:fillRect/>
            </a:stretch>
          </p:blipFill>
          <p:spPr bwMode="auto">
            <a:xfrm>
              <a:off x="0" y="6707648"/>
              <a:ext cx="12192000" cy="150351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C8FAB7C-3C08-A36E-89FA-14D9A16E6389}"/>
                </a:ext>
              </a:extLst>
            </p:cNvPr>
            <p:cNvSpPr/>
            <p:nvPr userDrawn="1"/>
          </p:nvSpPr>
          <p:spPr bwMode="auto">
            <a:xfrm>
              <a:off x="0" y="6701740"/>
              <a:ext cx="12192000" cy="156259"/>
            </a:xfrm>
            <a:prstGeom prst="rect">
              <a:avLst/>
            </a:prstGeom>
            <a:gradFill flip="none" rotWithShape="1">
              <a:gsLst>
                <a:gs pos="100000">
                  <a:srgbClr val="0070C0">
                    <a:alpha val="74000"/>
                  </a:srgbClr>
                </a:gs>
                <a:gs pos="0">
                  <a:schemeClr val="accent1">
                    <a:alpha val="70000"/>
                  </a:schemeClr>
                </a:gs>
              </a:gsLst>
              <a:lin ang="14400000" scaled="0"/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748969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D214F0-8F0D-2883-FE6E-82C85B853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ADD4E-1954-5919-AB28-6449409BD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F677A-69BD-1E94-9BF5-F27180FA74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3900CB-3DF5-46D0-8F8B-B25BA5C6C4F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2DB7D-3325-E662-A3F7-6130650651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5C686-D445-AA53-71DB-DAFF3D0D0C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7C2D95-5A15-4672-B7E3-2CCF11B9BC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528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59C8F-4F13-8FD7-030A-62F0B67BF6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3582099"/>
            <a:ext cx="9144000" cy="2387600"/>
          </a:xfrm>
        </p:spPr>
        <p:txBody>
          <a:bodyPr/>
          <a:lstStyle/>
          <a:p>
            <a:r>
              <a:rPr lang="en-US" dirty="0"/>
              <a:t>Microsoft Foundry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2D174C-9480-F7C5-AEAC-B0DCE7176B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058" y="631414"/>
            <a:ext cx="6645883" cy="373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259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FA48A-11BB-FAB8-027F-40AEEDC67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9B6FB-DAC7-3920-2237-93B112DB2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30887"/>
          </a:xfrm>
        </p:spPr>
        <p:txBody>
          <a:bodyPr>
            <a:normAutofit fontScale="90000"/>
          </a:bodyPr>
          <a:lstStyle/>
          <a:p>
            <a:r>
              <a:rPr lang="en-US" dirty="0"/>
              <a:t>Developer needs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523426-2FB6-5822-89B8-09803B2EBE42}"/>
              </a:ext>
            </a:extLst>
          </p:cNvPr>
          <p:cNvSpPr txBox="1">
            <a:spLocks/>
          </p:cNvSpPr>
          <p:nvPr/>
        </p:nvSpPr>
        <p:spPr>
          <a:xfrm>
            <a:off x="929640" y="1948815"/>
            <a:ext cx="3200400" cy="2960370"/>
          </a:xfrm>
          <a:prstGeom prst="roundRect">
            <a:avLst>
              <a:gd name="adj" fmla="val 5795"/>
            </a:avLst>
          </a:prstGeom>
          <a:gradFill flip="none" rotWithShape="1">
            <a:gsLst>
              <a:gs pos="80000">
                <a:srgbClr val="A9D5ED">
                  <a:alpha val="10000"/>
                </a:srgbClr>
              </a:gs>
              <a:gs pos="0">
                <a:srgbClr val="FFC6CC">
                  <a:alpha val="1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455049" tIns="364040" rIns="455049" bIns="3640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2320060" fontAlgn="base">
              <a:spcBef>
                <a:spcPct val="0"/>
              </a:spcBef>
              <a:spcAft>
                <a:spcPct val="0"/>
              </a:spcAft>
              <a:defRPr sz="1800"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232006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-50" normalizeH="0" baseline="0" noProof="0" dirty="0">
                <a:ln>
                  <a:noFill/>
                </a:ln>
                <a:gradFill>
                  <a:gsLst>
                    <a:gs pos="95413">
                      <a:srgbClr val="152237"/>
                    </a:gs>
                    <a:gs pos="77000">
                      <a:srgbClr val="152237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Sans Display Semibold" pitchFamily="2" charset="0"/>
                <a:ea typeface="+mn-ea"/>
                <a:cs typeface="Segoe UI" panose="020B0502040204020203" pitchFamily="34" charset="0"/>
              </a:rPr>
              <a:t>Rapidly prototype, build, and deploy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Segoe UI" panose="020B0502040204020203" pitchFamily="34" charset="0"/>
              </a:rPr>
              <a:t>to share concepts with customers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F43CAAE-26E8-4419-C5C5-C1B15169B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69876" y="1354951"/>
            <a:ext cx="1199320" cy="1199320"/>
          </a:xfrm>
          <a:prstGeom prst="ellipse">
            <a:avLst/>
          </a:prstGeom>
          <a:gradFill flip="none" rotWithShape="1">
            <a:gsLst>
              <a:gs pos="0">
                <a:srgbClr val="B37AD7"/>
              </a:gs>
              <a:gs pos="80000">
                <a:srgbClr val="1371ED"/>
              </a:gs>
            </a:gsLst>
            <a:path path="circle">
              <a:fillToRect l="100000" t="100000"/>
            </a:path>
            <a:tileRect r="-100000" b="-100000"/>
          </a:gradFill>
          <a:ln w="12700" cap="rnd">
            <a:noFill/>
          </a:ln>
        </p:spPr>
        <p:txBody>
          <a:bodyPr wrap="none" lIns="0" tIns="0" rIns="0" bIns="45720" rtlCol="0" anchor="ctr" anchorCtr="0">
            <a:noAutofit/>
          </a:bodyPr>
          <a:lstStyle/>
          <a:p>
            <a:pPr algn="ctr" defTabSz="914437" fontAlgn="base">
              <a:spcBef>
                <a:spcPts val="1200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1600" b="1" dirty="0">
              <a:ln w="3175">
                <a:noFill/>
              </a:ln>
              <a:gradFill>
                <a:gsLst>
                  <a:gs pos="3670">
                    <a:prstClr val="black"/>
                  </a:gs>
                  <a:gs pos="25688">
                    <a:prstClr val="black"/>
                  </a:gs>
                </a:gsLst>
                <a:path path="circle">
                  <a:fillToRect l="100000" t="100000"/>
                </a:path>
              </a:gradFill>
              <a:latin typeface="Segoe Sans Display Semibold" pitchFamily="2" charset="0"/>
              <a:cs typeface="Segoe UI" pitchFamily="34" charset="0"/>
            </a:endParaRPr>
          </a:p>
        </p:txBody>
      </p:sp>
      <p:pic>
        <p:nvPicPr>
          <p:cNvPr id="13" name="Graphic 12" descr="Circles with arrows with solid fill">
            <a:extLst>
              <a:ext uri="{FF2B5EF4-FFF2-40B4-BE49-F238E27FC236}">
                <a16:creationId xmlns:a16="http://schemas.microsoft.com/office/drawing/2014/main" id="{CE48E327-1F9F-ED24-8AC5-25B36384FB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6921" y="1501996"/>
            <a:ext cx="905231" cy="905231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9AA2AB3-5596-3F2B-94A0-D180371029D3}"/>
              </a:ext>
            </a:extLst>
          </p:cNvPr>
          <p:cNvSpPr txBox="1">
            <a:spLocks/>
          </p:cNvSpPr>
          <p:nvPr/>
        </p:nvSpPr>
        <p:spPr>
          <a:xfrm>
            <a:off x="4495800" y="1948815"/>
            <a:ext cx="3200400" cy="2960370"/>
          </a:xfrm>
          <a:prstGeom prst="roundRect">
            <a:avLst>
              <a:gd name="adj" fmla="val 5942"/>
            </a:avLst>
          </a:prstGeom>
          <a:gradFill flip="none" rotWithShape="1">
            <a:gsLst>
              <a:gs pos="80000">
                <a:srgbClr val="A9D5ED">
                  <a:alpha val="10000"/>
                </a:srgbClr>
              </a:gs>
              <a:gs pos="0">
                <a:srgbClr val="FFC6CC">
                  <a:alpha val="1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455049" tIns="364040" rIns="455049" bIns="3640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2320060" fontAlgn="base">
              <a:spcBef>
                <a:spcPct val="0"/>
              </a:spcBef>
              <a:spcAft>
                <a:spcPct val="0"/>
              </a:spcAft>
              <a:defRPr sz="1800" spc="-50">
                <a:gradFill>
                  <a:gsLst>
                    <a:gs pos="95413">
                      <a:srgbClr val="152237"/>
                    </a:gs>
                    <a:gs pos="77000">
                      <a:srgbClr val="152237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232006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-50" normalizeH="0" baseline="0" noProof="0" dirty="0">
                <a:ln>
                  <a:noFill/>
                </a:ln>
                <a:gradFill>
                  <a:gsLst>
                    <a:gs pos="95413">
                      <a:srgbClr val="152237"/>
                    </a:gs>
                    <a:gs pos="77000">
                      <a:srgbClr val="152237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Sans Display Semibold" pitchFamily="2" charset="0"/>
                <a:ea typeface="+mn-ea"/>
                <a:cs typeface="Segoe UI" panose="020B0502040204020203" pitchFamily="34" charset="0"/>
              </a:rPr>
              <a:t>Easy experimentation and evaluation </a:t>
            </a:r>
            <a:r>
              <a:rPr kumimoji="0" lang="en-US" sz="16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Segoe UI" panose="020B0502040204020203" pitchFamily="34" charset="0"/>
              </a:rPr>
              <a:t>to quickly test prompts, models, and datasets without waiting for provisioning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1D70074-50E2-0300-5DEE-F63775E50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6036" y="1381088"/>
            <a:ext cx="1199320" cy="1199320"/>
          </a:xfrm>
          <a:prstGeom prst="ellipse">
            <a:avLst/>
          </a:prstGeom>
          <a:gradFill flip="none" rotWithShape="1">
            <a:gsLst>
              <a:gs pos="0">
                <a:srgbClr val="B37AD7"/>
              </a:gs>
              <a:gs pos="80000">
                <a:srgbClr val="1371ED"/>
              </a:gs>
            </a:gsLst>
            <a:path path="circle">
              <a:fillToRect l="100000" t="100000"/>
            </a:path>
            <a:tileRect r="-100000" b="-100000"/>
          </a:gradFill>
          <a:ln w="12700" cap="rnd">
            <a:noFill/>
          </a:ln>
        </p:spPr>
        <p:txBody>
          <a:bodyPr wrap="none" lIns="0" tIns="0" rIns="0" bIns="45720" rtlCol="0" anchor="ctr" anchorCtr="0">
            <a:noAutofit/>
          </a:bodyPr>
          <a:lstStyle/>
          <a:p>
            <a:pPr algn="ctr" defTabSz="914437" fontAlgn="base">
              <a:spcBef>
                <a:spcPts val="1200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1600" b="1" dirty="0">
              <a:ln w="3175">
                <a:noFill/>
              </a:ln>
              <a:gradFill>
                <a:gsLst>
                  <a:gs pos="3670">
                    <a:prstClr val="black"/>
                  </a:gs>
                  <a:gs pos="25688">
                    <a:prstClr val="black"/>
                  </a:gs>
                </a:gsLst>
                <a:path path="circle">
                  <a:fillToRect l="100000" t="100000"/>
                </a:path>
              </a:gradFill>
              <a:latin typeface="Segoe Sans Display Semibold" pitchFamily="2" charset="0"/>
              <a:cs typeface="Segoe UI" pitchFamily="34" charset="0"/>
            </a:endParaRPr>
          </a:p>
        </p:txBody>
      </p:sp>
      <p:pic>
        <p:nvPicPr>
          <p:cNvPr id="16" name="Graphic 15" descr="Flask with solid fill">
            <a:extLst>
              <a:ext uri="{FF2B5EF4-FFF2-40B4-BE49-F238E27FC236}">
                <a16:creationId xmlns:a16="http://schemas.microsoft.com/office/drawing/2014/main" id="{D81CBD29-ECD2-69BC-8168-CB364930AC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83081" y="1469603"/>
            <a:ext cx="905231" cy="905231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A5F6E93-8FF4-2968-59DB-959046446E81}"/>
              </a:ext>
            </a:extLst>
          </p:cNvPr>
          <p:cNvSpPr txBox="1">
            <a:spLocks/>
          </p:cNvSpPr>
          <p:nvPr/>
        </p:nvSpPr>
        <p:spPr>
          <a:xfrm>
            <a:off x="8061960" y="1948815"/>
            <a:ext cx="3200400" cy="2960370"/>
          </a:xfrm>
          <a:prstGeom prst="roundRect">
            <a:avLst>
              <a:gd name="adj" fmla="val 6183"/>
            </a:avLst>
          </a:prstGeom>
          <a:gradFill flip="none" rotWithShape="1">
            <a:gsLst>
              <a:gs pos="80000">
                <a:srgbClr val="A9D5ED">
                  <a:alpha val="10000"/>
                </a:srgbClr>
              </a:gs>
              <a:gs pos="0">
                <a:srgbClr val="FFC6CC">
                  <a:alpha val="1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455049" tIns="364040" rIns="455049" bIns="3640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2320060" fontAlgn="base">
              <a:spcBef>
                <a:spcPct val="0"/>
              </a:spcBef>
              <a:spcAft>
                <a:spcPct val="0"/>
              </a:spcAft>
              <a:defRPr sz="1800" spc="-50">
                <a:gradFill>
                  <a:gsLst>
                    <a:gs pos="95413">
                      <a:srgbClr val="152237"/>
                    </a:gs>
                    <a:gs pos="77000">
                      <a:srgbClr val="152237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232006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-50" normalizeH="0" baseline="0" noProof="0" dirty="0">
                <a:ln>
                  <a:noFill/>
                </a:ln>
                <a:gradFill>
                  <a:gsLst>
                    <a:gs pos="95413">
                      <a:srgbClr val="152237"/>
                    </a:gs>
                    <a:gs pos="77000">
                      <a:srgbClr val="152237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Sans Display Semibold" pitchFamily="2" charset="0"/>
                <a:ea typeface="+mn-ea"/>
                <a:cs typeface="Segoe UI" panose="020B0502040204020203" pitchFamily="34" charset="0"/>
              </a:rPr>
              <a:t>Secure, scalable, production-ready AI platform </a:t>
            </a:r>
            <a:r>
              <a:rPr kumimoji="0" lang="en-US" sz="16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Segoe UI" panose="020B0502040204020203" pitchFamily="34" charset="0"/>
              </a:rPr>
              <a:t>to manage AI applications and agents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63970B8-A8C1-CB01-F6E8-907B72FB6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62500" y="1381088"/>
            <a:ext cx="1199320" cy="1199320"/>
          </a:xfrm>
          <a:prstGeom prst="ellipse">
            <a:avLst/>
          </a:prstGeom>
          <a:gradFill flip="none" rotWithShape="1">
            <a:gsLst>
              <a:gs pos="0">
                <a:srgbClr val="B37AD7"/>
              </a:gs>
              <a:gs pos="80000">
                <a:srgbClr val="1371ED"/>
              </a:gs>
            </a:gsLst>
            <a:path path="circle">
              <a:fillToRect l="100000" t="100000"/>
            </a:path>
            <a:tileRect r="-100000" b="-100000"/>
          </a:gradFill>
          <a:ln w="12700" cap="rnd">
            <a:noFill/>
          </a:ln>
        </p:spPr>
        <p:txBody>
          <a:bodyPr wrap="none" lIns="0" tIns="0" rIns="0" bIns="45720" rtlCol="0" anchor="ctr" anchorCtr="0">
            <a:noAutofit/>
          </a:bodyPr>
          <a:lstStyle/>
          <a:p>
            <a:pPr algn="ctr" defTabSz="914437" fontAlgn="base">
              <a:spcBef>
                <a:spcPts val="1200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1600" b="1" dirty="0">
              <a:ln w="3175">
                <a:noFill/>
              </a:ln>
              <a:gradFill>
                <a:gsLst>
                  <a:gs pos="3670">
                    <a:prstClr val="black"/>
                  </a:gs>
                  <a:gs pos="25688">
                    <a:prstClr val="black"/>
                  </a:gs>
                </a:gsLst>
                <a:path path="circle">
                  <a:fillToRect l="100000" t="100000"/>
                </a:path>
              </a:gradFill>
              <a:latin typeface="Segoe Sans Display Semibold" pitchFamily="2" charset="0"/>
              <a:cs typeface="Segoe UI" pitchFamily="34" charset="0"/>
            </a:endParaRPr>
          </a:p>
        </p:txBody>
      </p:sp>
      <p:pic>
        <p:nvPicPr>
          <p:cNvPr id="19" name="Graphic 18" descr="End with solid fill">
            <a:extLst>
              <a:ext uri="{FF2B5EF4-FFF2-40B4-BE49-F238E27FC236}">
                <a16:creationId xmlns:a16="http://schemas.microsoft.com/office/drawing/2014/main" id="{F0E386B3-D758-9DB6-5135-3E60E36260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09545" y="1526203"/>
            <a:ext cx="905231" cy="9052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3920CD-7722-1F7D-2BF0-FE58A6CFF7E3}"/>
              </a:ext>
            </a:extLst>
          </p:cNvPr>
          <p:cNvSpPr txBox="1"/>
          <p:nvPr/>
        </p:nvSpPr>
        <p:spPr>
          <a:xfrm>
            <a:off x="2912436" y="5356004"/>
            <a:ext cx="6446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Microsoft Foundry is the one-stop solution to all your developer needs on a PaaS basis.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249543256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E8A13E99-DE79-F2D4-0963-FBCACB07599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767" y="1170179"/>
            <a:ext cx="8578466" cy="4814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A37A46-7E9F-937A-95B7-D9DCE26190A9}"/>
              </a:ext>
            </a:extLst>
          </p:cNvPr>
          <p:cNvSpPr txBox="1"/>
          <p:nvPr/>
        </p:nvSpPr>
        <p:spPr>
          <a:xfrm>
            <a:off x="287676" y="431515"/>
            <a:ext cx="2517169" cy="13849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Model Catalog </a:t>
            </a:r>
            <a:r>
              <a:rPr lang="en-US" sz="1400" dirty="0"/>
              <a:t>- Deploy Models on Serverless Inferencing (Pay-Per-Token Pricing) from vendors like Meta, Claude, OpenAI, Grok etc.</a:t>
            </a:r>
            <a:endParaRPr lang="en-IN" sz="14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347CD79-BC2B-457D-4584-BCF9803D0ABF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4323936" y="1034588"/>
            <a:ext cx="299435" cy="19962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436F687-6593-6426-F881-281AC751157D}"/>
              </a:ext>
            </a:extLst>
          </p:cNvPr>
          <p:cNvSpPr txBox="1"/>
          <p:nvPr/>
        </p:nvSpPr>
        <p:spPr>
          <a:xfrm>
            <a:off x="3065351" y="80481"/>
            <a:ext cx="2517169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Agent Service </a:t>
            </a:r>
            <a:r>
              <a:rPr lang="en-US" sz="1400" dirty="0"/>
              <a:t>– Agents with Tools and Knowledge Bases. Also Bring Your Own Agents as Hosted Agents</a:t>
            </a:r>
            <a:endParaRPr lang="en-IN" sz="1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232B9D1-E9B7-CD2D-2DD3-4157A9AFEC3D}"/>
              </a:ext>
            </a:extLst>
          </p:cNvPr>
          <p:cNvCxnSpPr/>
          <p:nvPr/>
        </p:nvCxnSpPr>
        <p:spPr>
          <a:xfrm>
            <a:off x="1698661" y="1968910"/>
            <a:ext cx="1289406" cy="11938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DA1D3A0-32D8-3BB7-7D47-E5716003639F}"/>
              </a:ext>
            </a:extLst>
          </p:cNvPr>
          <p:cNvSpPr txBox="1"/>
          <p:nvPr/>
        </p:nvSpPr>
        <p:spPr>
          <a:xfrm>
            <a:off x="7976170" y="1491856"/>
            <a:ext cx="2517169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Tools – </a:t>
            </a:r>
            <a:r>
              <a:rPr lang="en-US" sz="1400" dirty="0"/>
              <a:t>Choose from a Variety of MCP Servers, Logic Apps, Vector Indices, OpenAPI Definitions etc.</a:t>
            </a:r>
            <a:endParaRPr lang="en-IN" sz="14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B35BF09-2896-9BDC-DA44-C04CD1830990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7568631" y="2445963"/>
            <a:ext cx="1666124" cy="5849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3ABBE7C-8652-6F90-E0DD-828B4A420764}"/>
              </a:ext>
            </a:extLst>
          </p:cNvPr>
          <p:cNvSpPr txBox="1"/>
          <p:nvPr/>
        </p:nvSpPr>
        <p:spPr>
          <a:xfrm>
            <a:off x="10193677" y="3334984"/>
            <a:ext cx="1710647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Fine Tuning – </a:t>
            </a:r>
            <a:r>
              <a:rPr lang="en-US" sz="1400" dirty="0"/>
              <a:t>Make Base Models more domain centric with fine-tuning</a:t>
            </a:r>
            <a:endParaRPr lang="en-IN" sz="14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B5E20AA-07A4-D5FE-A524-16464428D0AC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9759595" y="3334984"/>
            <a:ext cx="434082" cy="4770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22DC856-2717-E877-934D-E6EB0441EC61}"/>
              </a:ext>
            </a:extLst>
          </p:cNvPr>
          <p:cNvSpPr txBox="1"/>
          <p:nvPr/>
        </p:nvSpPr>
        <p:spPr>
          <a:xfrm>
            <a:off x="10343393" y="5769578"/>
            <a:ext cx="1710647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Foundry Local </a:t>
            </a:r>
            <a:r>
              <a:rPr lang="en-US" sz="1400" dirty="0"/>
              <a:t>– Develop Fully Local Agents with Foundry Local</a:t>
            </a:r>
            <a:endParaRPr lang="en-IN" sz="14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C6E8544-3EA5-C363-67C8-1A2C24926CEB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9452225" y="4798031"/>
            <a:ext cx="1746492" cy="9715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2F05CDE-9479-7696-F21F-C1BAB4B3775B}"/>
              </a:ext>
            </a:extLst>
          </p:cNvPr>
          <p:cNvSpPr txBox="1"/>
          <p:nvPr/>
        </p:nvSpPr>
        <p:spPr>
          <a:xfrm>
            <a:off x="137960" y="5640352"/>
            <a:ext cx="2220074" cy="116955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Cloud Based Agents – </a:t>
            </a:r>
            <a:r>
              <a:rPr lang="en-US" sz="1400" dirty="0"/>
              <a:t>Develop Cloud Native Agents to take full advantage of the Foundry Ecosystem</a:t>
            </a:r>
            <a:endParaRPr lang="en-IN" sz="1400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2A71F02-D165-0692-757A-C6ADE9DAA52F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1247997" y="4798031"/>
            <a:ext cx="1254731" cy="8423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3385F6B-F378-E471-45AE-D58B43EA3987}"/>
              </a:ext>
            </a:extLst>
          </p:cNvPr>
          <p:cNvSpPr txBox="1"/>
          <p:nvPr/>
        </p:nvSpPr>
        <p:spPr>
          <a:xfrm>
            <a:off x="2647423" y="5640352"/>
            <a:ext cx="2935098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Entra ID – </a:t>
            </a:r>
            <a:r>
              <a:rPr lang="en-US" sz="1400" dirty="0"/>
              <a:t>Govern Agent Identities with Microsoft Entra ID and enforce RBAC, Conditional Access Policies, PIM policies on Agent in M365</a:t>
            </a:r>
            <a:endParaRPr lang="en-IN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AF53B9-0F87-5738-0F69-76BFF97481F9}"/>
              </a:ext>
            </a:extLst>
          </p:cNvPr>
          <p:cNvSpPr txBox="1"/>
          <p:nvPr/>
        </p:nvSpPr>
        <p:spPr>
          <a:xfrm>
            <a:off x="6594811" y="5769578"/>
            <a:ext cx="2935098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Microsoft Purview – </a:t>
            </a:r>
            <a:r>
              <a:rPr lang="en-US" sz="1400" dirty="0"/>
              <a:t>Classify and Protect Data with Microsoft Purview and Foundry IQ</a:t>
            </a:r>
            <a:endParaRPr lang="en-IN" sz="1400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BB14932-74FE-9905-8860-0FE090E98917}"/>
              </a:ext>
            </a:extLst>
          </p:cNvPr>
          <p:cNvCxnSpPr>
            <a:cxnSpLocks/>
            <a:endCxn id="30" idx="0"/>
          </p:cNvCxnSpPr>
          <p:nvPr/>
        </p:nvCxnSpPr>
        <p:spPr>
          <a:xfrm flipH="1">
            <a:off x="4114972" y="5106256"/>
            <a:ext cx="1981028" cy="534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811AAF7-A158-C773-4F7D-EAA12FE979CE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6096000" y="5106256"/>
            <a:ext cx="1966360" cy="663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A194BD4-AB22-B49F-4F62-8ABED917D21A}"/>
              </a:ext>
            </a:extLst>
          </p:cNvPr>
          <p:cNvSpPr txBox="1"/>
          <p:nvPr/>
        </p:nvSpPr>
        <p:spPr>
          <a:xfrm>
            <a:off x="6717585" y="80481"/>
            <a:ext cx="2812324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Foundry IQ – </a:t>
            </a:r>
            <a:r>
              <a:rPr lang="en-US" sz="1400" dirty="0"/>
              <a:t>Bring Enterprise Knowledge with Agentic Retrieval Systems</a:t>
            </a:r>
            <a:endParaRPr lang="en-IN" sz="1400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6A52780-226A-C79F-DD83-05437484BA05}"/>
              </a:ext>
            </a:extLst>
          </p:cNvPr>
          <p:cNvCxnSpPr>
            <a:cxnSpLocks/>
            <a:stCxn id="42" idx="2"/>
          </p:cNvCxnSpPr>
          <p:nvPr/>
        </p:nvCxnSpPr>
        <p:spPr>
          <a:xfrm flipH="1">
            <a:off x="6142460" y="819145"/>
            <a:ext cx="1981287" cy="22117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7AF7F3F4-0039-BF51-4CC9-A469FF73E6AB}"/>
              </a:ext>
            </a:extLst>
          </p:cNvPr>
          <p:cNvSpPr txBox="1"/>
          <p:nvPr/>
        </p:nvSpPr>
        <p:spPr>
          <a:xfrm>
            <a:off x="68595" y="3134370"/>
            <a:ext cx="1806767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Foundry Control Plane – </a:t>
            </a:r>
            <a:r>
              <a:rPr lang="en-US" sz="1400" dirty="0"/>
              <a:t>Tracing and Observability for Agents</a:t>
            </a:r>
            <a:endParaRPr lang="en-IN" sz="1400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E92E40F-9C53-598E-86D9-8DB30E803169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1875362" y="3611424"/>
            <a:ext cx="1189989" cy="5771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198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7E993-1878-DB36-8005-C77139095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957" y="-117761"/>
            <a:ext cx="10515600" cy="1325563"/>
          </a:xfrm>
        </p:spPr>
        <p:txBody>
          <a:bodyPr/>
          <a:lstStyle/>
          <a:p>
            <a:r>
              <a:rPr lang="en-US" dirty="0"/>
              <a:t>Model Catalog – Models, Models and Models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B1A428-89FA-17C6-C0D1-A49EEB9437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1351" y="886511"/>
            <a:ext cx="9233826" cy="5771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43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AA92F-5670-1E43-EE28-707325524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6" y="-23630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Tools and More….</a:t>
            </a:r>
            <a:endParaRPr lang="en-IN" dirty="0"/>
          </a:p>
        </p:txBody>
      </p:sp>
      <p:pic>
        <p:nvPicPr>
          <p:cNvPr id="6146" name="Picture 2" descr="What is Foundry Agent Service? - Microsoft Foundry | Microsoft Learn">
            <a:extLst>
              <a:ext uri="{FF2B5EF4-FFF2-40B4-BE49-F238E27FC236}">
                <a16:creationId xmlns:a16="http://schemas.microsoft.com/office/drawing/2014/main" id="{7CF395CE-9CB2-42B6-A684-FFFFC5C0683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759" y="949502"/>
            <a:ext cx="7998980" cy="5694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3422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1359E9-FCC2-1A19-7C45-59B36D769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758" y="237679"/>
            <a:ext cx="6506483" cy="638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191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277</Words>
  <Application>Microsoft Office PowerPoint</Application>
  <PresentationFormat>Widescreen</PresentationFormat>
  <Paragraphs>21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Helvetica</vt:lpstr>
      <vt:lpstr>Segoe Sans Display</vt:lpstr>
      <vt:lpstr>Segoe Sans Display Semibold</vt:lpstr>
      <vt:lpstr>Office Theme</vt:lpstr>
      <vt:lpstr>Microsoft Foundry</vt:lpstr>
      <vt:lpstr>Developer needs</vt:lpstr>
      <vt:lpstr>PowerPoint Presentation</vt:lpstr>
      <vt:lpstr>Model Catalog – Models, Models and Models</vt:lpstr>
      <vt:lpstr>Tools and More….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2026-05-07T03:06:22Z</dcterms:created>
  <dcterms:modified xsi:type="dcterms:W3CDTF">2026-05-07T03:11:39Z</dcterms:modified>
</cp:coreProperties>
</file>