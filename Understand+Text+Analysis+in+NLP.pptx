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8" r:id="rId3"/>
    <p:sldId id="266" r:id="rId4"/>
    <p:sldId id="267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B2A3F0-C7B9-4DF4-9909-C09D82065EAC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C1C1A8-EE48-4E77-B45F-58EC59694812}">
      <dgm:prSet phldrT="[Text]" phldr="0"/>
      <dgm:spPr/>
      <dgm:t>
        <a:bodyPr/>
        <a:lstStyle/>
        <a:p>
          <a:r>
            <a:rPr lang="en-US" b="1" dirty="0"/>
            <a:t>Text Normalization</a:t>
          </a:r>
        </a:p>
        <a:p>
          <a:r>
            <a:rPr lang="en-IN" dirty="0"/>
            <a:t>Normalize the text by using punctuation and upper case to lower case conversion</a:t>
          </a:r>
        </a:p>
      </dgm:t>
    </dgm:pt>
    <dgm:pt modelId="{9C4839D6-1617-41CC-851E-709ED3BFDC36}" type="parTrans" cxnId="{2BF2A6E1-CBC2-4663-BCBD-C8194C6FF5E3}">
      <dgm:prSet/>
      <dgm:spPr/>
      <dgm:t>
        <a:bodyPr/>
        <a:lstStyle/>
        <a:p>
          <a:endParaRPr lang="en-IN"/>
        </a:p>
      </dgm:t>
    </dgm:pt>
    <dgm:pt modelId="{177FDFD9-3CE4-4CAA-8B1C-653996184178}" type="sibTrans" cxnId="{2BF2A6E1-CBC2-4663-BCBD-C8194C6FF5E3}">
      <dgm:prSet/>
      <dgm:spPr/>
      <dgm:t>
        <a:bodyPr/>
        <a:lstStyle/>
        <a:p>
          <a:endParaRPr lang="en-IN"/>
        </a:p>
      </dgm:t>
    </dgm:pt>
    <dgm:pt modelId="{7E213AE7-2EA3-474D-9958-483314C0B049}">
      <dgm:prSet phldrT="[Text]" phldr="0"/>
      <dgm:spPr/>
      <dgm:t>
        <a:bodyPr/>
        <a:lstStyle/>
        <a:p>
          <a:r>
            <a:rPr lang="en-US" b="1" dirty="0"/>
            <a:t>Stop-word Removal</a:t>
          </a:r>
        </a:p>
        <a:p>
          <a:r>
            <a:rPr lang="en-IN" dirty="0"/>
            <a:t>Remove words like “the”, “a” or “it” that add little to no semantic meaning to the text</a:t>
          </a:r>
        </a:p>
      </dgm:t>
    </dgm:pt>
    <dgm:pt modelId="{A1C0DEBC-EC05-4E0E-A186-5FC44E0C2EB8}" type="parTrans" cxnId="{23E20EAD-D9E4-449B-9EA4-6427EA3BE176}">
      <dgm:prSet/>
      <dgm:spPr/>
      <dgm:t>
        <a:bodyPr/>
        <a:lstStyle/>
        <a:p>
          <a:endParaRPr lang="en-IN"/>
        </a:p>
      </dgm:t>
    </dgm:pt>
    <dgm:pt modelId="{94D94157-584D-42E5-80B7-12186ACB0C84}" type="sibTrans" cxnId="{23E20EAD-D9E4-449B-9EA4-6427EA3BE176}">
      <dgm:prSet/>
      <dgm:spPr/>
      <dgm:t>
        <a:bodyPr/>
        <a:lstStyle/>
        <a:p>
          <a:endParaRPr lang="en-IN"/>
        </a:p>
      </dgm:t>
    </dgm:pt>
    <dgm:pt modelId="{33400D95-06FA-4314-B50B-835ADA3A178A}">
      <dgm:prSet phldrT="[Text]" phldr="0"/>
      <dgm:spPr/>
      <dgm:t>
        <a:bodyPr/>
        <a:lstStyle/>
        <a:p>
          <a:r>
            <a:rPr lang="en-US" b="1" dirty="0"/>
            <a:t>N-gram extraction</a:t>
          </a:r>
        </a:p>
        <a:p>
          <a:r>
            <a:rPr lang="en-IN" dirty="0"/>
            <a:t>Find multi-term phrases like “artificial intelligence” or “natural language processing”</a:t>
          </a:r>
        </a:p>
      </dgm:t>
    </dgm:pt>
    <dgm:pt modelId="{5F26D547-9F63-4BAD-97E1-AB58F636A10B}" type="parTrans" cxnId="{A6052543-8756-407F-8E64-5CBAAA223409}">
      <dgm:prSet/>
      <dgm:spPr/>
      <dgm:t>
        <a:bodyPr/>
        <a:lstStyle/>
        <a:p>
          <a:endParaRPr lang="en-IN"/>
        </a:p>
      </dgm:t>
    </dgm:pt>
    <dgm:pt modelId="{37989CD3-19D7-4597-911F-4AE61E660529}" type="sibTrans" cxnId="{A6052543-8756-407F-8E64-5CBAAA223409}">
      <dgm:prSet/>
      <dgm:spPr/>
      <dgm:t>
        <a:bodyPr/>
        <a:lstStyle/>
        <a:p>
          <a:endParaRPr lang="en-IN"/>
        </a:p>
      </dgm:t>
    </dgm:pt>
    <dgm:pt modelId="{30CF7BD4-DC5A-45F0-BDC4-FCD0F86F384D}">
      <dgm:prSet phldrT="[Text]" phldr="0"/>
      <dgm:spPr/>
      <dgm:t>
        <a:bodyPr/>
        <a:lstStyle/>
        <a:p>
          <a:r>
            <a:rPr lang="en-US" b="1" dirty="0"/>
            <a:t>Stemming and Lemmatization</a:t>
          </a:r>
        </a:p>
        <a:p>
          <a:r>
            <a:rPr lang="en-IN" dirty="0"/>
            <a:t>Strip off ending characters from words like “s”, “</a:t>
          </a:r>
          <a:r>
            <a:rPr lang="en-IN" dirty="0" err="1"/>
            <a:t>ing</a:t>
          </a:r>
          <a:r>
            <a:rPr lang="en-IN" dirty="0"/>
            <a:t>”, “ed”. So now “powering”, “powered” and “powerful” all become “power”</a:t>
          </a:r>
        </a:p>
      </dgm:t>
    </dgm:pt>
    <dgm:pt modelId="{4F7CCC1E-A614-441D-AF3D-5565A964E900}" type="parTrans" cxnId="{7FBC96A9-13C9-48F6-89D9-CC2FE3C75290}">
      <dgm:prSet/>
      <dgm:spPr/>
      <dgm:t>
        <a:bodyPr/>
        <a:lstStyle/>
        <a:p>
          <a:endParaRPr lang="en-IN"/>
        </a:p>
      </dgm:t>
    </dgm:pt>
    <dgm:pt modelId="{E76865DD-8151-4A85-B022-6142585F23FF}" type="sibTrans" cxnId="{7FBC96A9-13C9-48F6-89D9-CC2FE3C75290}">
      <dgm:prSet/>
      <dgm:spPr/>
      <dgm:t>
        <a:bodyPr/>
        <a:lstStyle/>
        <a:p>
          <a:endParaRPr lang="en-IN"/>
        </a:p>
      </dgm:t>
    </dgm:pt>
    <dgm:pt modelId="{BA8CF8B8-C61D-43CB-B348-5A63FE260A4A}">
      <dgm:prSet phldrT="[Text]" phldr="0"/>
      <dgm:spPr/>
      <dgm:t>
        <a:bodyPr/>
        <a:lstStyle/>
        <a:p>
          <a:r>
            <a:rPr lang="en-US" b="1" dirty="0"/>
            <a:t>Parts-of-Speech (POS) Tagging</a:t>
          </a:r>
        </a:p>
        <a:p>
          <a:r>
            <a:rPr lang="en-IN" dirty="0"/>
            <a:t>Label each token with its grammatical category such as noun, adjective, verb or adverb</a:t>
          </a:r>
        </a:p>
      </dgm:t>
    </dgm:pt>
    <dgm:pt modelId="{26AE33CA-8675-4C54-ACD5-BC5779B2694E}" type="parTrans" cxnId="{3FBE5D11-1FC9-4B1F-83C0-DBFF213CE48F}">
      <dgm:prSet/>
      <dgm:spPr/>
      <dgm:t>
        <a:bodyPr/>
        <a:lstStyle/>
        <a:p>
          <a:endParaRPr lang="en-IN"/>
        </a:p>
      </dgm:t>
    </dgm:pt>
    <dgm:pt modelId="{0237B02D-81A1-470B-B508-E56A590DAE2A}" type="sibTrans" cxnId="{3FBE5D11-1FC9-4B1F-83C0-DBFF213CE48F}">
      <dgm:prSet/>
      <dgm:spPr/>
      <dgm:t>
        <a:bodyPr/>
        <a:lstStyle/>
        <a:p>
          <a:endParaRPr lang="en-IN"/>
        </a:p>
      </dgm:t>
    </dgm:pt>
    <dgm:pt modelId="{B72911AD-F257-4DB0-A76C-6398E3368F22}" type="pres">
      <dgm:prSet presAssocID="{F3B2A3F0-C7B9-4DF4-9909-C09D82065EAC}" presName="Name0" presStyleCnt="0">
        <dgm:presLayoutVars>
          <dgm:dir/>
          <dgm:resizeHandles val="exact"/>
        </dgm:presLayoutVars>
      </dgm:prSet>
      <dgm:spPr/>
    </dgm:pt>
    <dgm:pt modelId="{40D31415-327C-4D78-A833-82AF1B088DE0}" type="pres">
      <dgm:prSet presAssocID="{00C1C1A8-EE48-4E77-B45F-58EC59694812}" presName="node" presStyleLbl="node1" presStyleIdx="0" presStyleCnt="5">
        <dgm:presLayoutVars>
          <dgm:bulletEnabled val="1"/>
        </dgm:presLayoutVars>
      </dgm:prSet>
      <dgm:spPr/>
    </dgm:pt>
    <dgm:pt modelId="{B3960410-3F6B-417E-8445-5E2058A38C1F}" type="pres">
      <dgm:prSet presAssocID="{177FDFD9-3CE4-4CAA-8B1C-653996184178}" presName="sibTrans" presStyleLbl="sibTrans1D1" presStyleIdx="0" presStyleCnt="4"/>
      <dgm:spPr/>
    </dgm:pt>
    <dgm:pt modelId="{396724BD-52A1-4735-B4E1-F72CC0A1242E}" type="pres">
      <dgm:prSet presAssocID="{177FDFD9-3CE4-4CAA-8B1C-653996184178}" presName="connectorText" presStyleLbl="sibTrans1D1" presStyleIdx="0" presStyleCnt="4"/>
      <dgm:spPr/>
    </dgm:pt>
    <dgm:pt modelId="{157222C9-F0F8-4A5C-9470-A1A0410289AE}" type="pres">
      <dgm:prSet presAssocID="{7E213AE7-2EA3-474D-9958-483314C0B049}" presName="node" presStyleLbl="node1" presStyleIdx="1" presStyleCnt="5">
        <dgm:presLayoutVars>
          <dgm:bulletEnabled val="1"/>
        </dgm:presLayoutVars>
      </dgm:prSet>
      <dgm:spPr/>
    </dgm:pt>
    <dgm:pt modelId="{8CE34555-6524-4A49-AF40-7824779A8A85}" type="pres">
      <dgm:prSet presAssocID="{94D94157-584D-42E5-80B7-12186ACB0C84}" presName="sibTrans" presStyleLbl="sibTrans1D1" presStyleIdx="1" presStyleCnt="4"/>
      <dgm:spPr/>
    </dgm:pt>
    <dgm:pt modelId="{1C743F02-29DA-42E3-9531-0C6613205BB2}" type="pres">
      <dgm:prSet presAssocID="{94D94157-584D-42E5-80B7-12186ACB0C84}" presName="connectorText" presStyleLbl="sibTrans1D1" presStyleIdx="1" presStyleCnt="4"/>
      <dgm:spPr/>
    </dgm:pt>
    <dgm:pt modelId="{CC8526B9-A18D-4965-955F-2E3D6E6ED3ED}" type="pres">
      <dgm:prSet presAssocID="{33400D95-06FA-4314-B50B-835ADA3A178A}" presName="node" presStyleLbl="node1" presStyleIdx="2" presStyleCnt="5">
        <dgm:presLayoutVars>
          <dgm:bulletEnabled val="1"/>
        </dgm:presLayoutVars>
      </dgm:prSet>
      <dgm:spPr/>
    </dgm:pt>
    <dgm:pt modelId="{9E2E9DBE-891C-4EB4-AB31-FFB00357FB17}" type="pres">
      <dgm:prSet presAssocID="{37989CD3-19D7-4597-911F-4AE61E660529}" presName="sibTrans" presStyleLbl="sibTrans1D1" presStyleIdx="2" presStyleCnt="4"/>
      <dgm:spPr/>
    </dgm:pt>
    <dgm:pt modelId="{C5EA2909-A3EF-46A8-B184-091A8BD4D358}" type="pres">
      <dgm:prSet presAssocID="{37989CD3-19D7-4597-911F-4AE61E660529}" presName="connectorText" presStyleLbl="sibTrans1D1" presStyleIdx="2" presStyleCnt="4"/>
      <dgm:spPr/>
    </dgm:pt>
    <dgm:pt modelId="{ECF592D8-C974-4FDA-AC28-4505B9DE03D6}" type="pres">
      <dgm:prSet presAssocID="{30CF7BD4-DC5A-45F0-BDC4-FCD0F86F384D}" presName="node" presStyleLbl="node1" presStyleIdx="3" presStyleCnt="5">
        <dgm:presLayoutVars>
          <dgm:bulletEnabled val="1"/>
        </dgm:presLayoutVars>
      </dgm:prSet>
      <dgm:spPr/>
    </dgm:pt>
    <dgm:pt modelId="{B3191A34-7248-4374-98C2-B294632D5672}" type="pres">
      <dgm:prSet presAssocID="{E76865DD-8151-4A85-B022-6142585F23FF}" presName="sibTrans" presStyleLbl="sibTrans1D1" presStyleIdx="3" presStyleCnt="4"/>
      <dgm:spPr/>
    </dgm:pt>
    <dgm:pt modelId="{027D6706-2392-4094-9C39-481609B6F05A}" type="pres">
      <dgm:prSet presAssocID="{E76865DD-8151-4A85-B022-6142585F23FF}" presName="connectorText" presStyleLbl="sibTrans1D1" presStyleIdx="3" presStyleCnt="4"/>
      <dgm:spPr/>
    </dgm:pt>
    <dgm:pt modelId="{B14B32AF-636D-4AB0-AAF3-75EEC936258B}" type="pres">
      <dgm:prSet presAssocID="{BA8CF8B8-C61D-43CB-B348-5A63FE260A4A}" presName="node" presStyleLbl="node1" presStyleIdx="4" presStyleCnt="5">
        <dgm:presLayoutVars>
          <dgm:bulletEnabled val="1"/>
        </dgm:presLayoutVars>
      </dgm:prSet>
      <dgm:spPr/>
    </dgm:pt>
  </dgm:ptLst>
  <dgm:cxnLst>
    <dgm:cxn modelId="{3FBE5D11-1FC9-4B1F-83C0-DBFF213CE48F}" srcId="{F3B2A3F0-C7B9-4DF4-9909-C09D82065EAC}" destId="{BA8CF8B8-C61D-43CB-B348-5A63FE260A4A}" srcOrd="4" destOrd="0" parTransId="{26AE33CA-8675-4C54-ACD5-BC5779B2694E}" sibTransId="{0237B02D-81A1-470B-B508-E56A590DAE2A}"/>
    <dgm:cxn modelId="{7C16C825-BB36-461A-9103-BC9320CF26F0}" type="presOf" srcId="{37989CD3-19D7-4597-911F-4AE61E660529}" destId="{9E2E9DBE-891C-4EB4-AB31-FFB00357FB17}" srcOrd="0" destOrd="0" presId="urn:microsoft.com/office/officeart/2005/8/layout/bProcess3"/>
    <dgm:cxn modelId="{46E9DE28-1A95-44E1-AA80-0339FC4B4335}" type="presOf" srcId="{00C1C1A8-EE48-4E77-B45F-58EC59694812}" destId="{40D31415-327C-4D78-A833-82AF1B088DE0}" srcOrd="0" destOrd="0" presId="urn:microsoft.com/office/officeart/2005/8/layout/bProcess3"/>
    <dgm:cxn modelId="{A6052543-8756-407F-8E64-5CBAAA223409}" srcId="{F3B2A3F0-C7B9-4DF4-9909-C09D82065EAC}" destId="{33400D95-06FA-4314-B50B-835ADA3A178A}" srcOrd="2" destOrd="0" parTransId="{5F26D547-9F63-4BAD-97E1-AB58F636A10B}" sibTransId="{37989CD3-19D7-4597-911F-4AE61E660529}"/>
    <dgm:cxn modelId="{C800CA44-041E-4D36-BF4E-2A02B8015A8E}" type="presOf" srcId="{33400D95-06FA-4314-B50B-835ADA3A178A}" destId="{CC8526B9-A18D-4965-955F-2E3D6E6ED3ED}" srcOrd="0" destOrd="0" presId="urn:microsoft.com/office/officeart/2005/8/layout/bProcess3"/>
    <dgm:cxn modelId="{61797865-D0BE-425C-9AF9-31A7E5647184}" type="presOf" srcId="{7E213AE7-2EA3-474D-9958-483314C0B049}" destId="{157222C9-F0F8-4A5C-9470-A1A0410289AE}" srcOrd="0" destOrd="0" presId="urn:microsoft.com/office/officeart/2005/8/layout/bProcess3"/>
    <dgm:cxn modelId="{FB01B56B-645C-48B0-B2B1-415D5E25D273}" type="presOf" srcId="{94D94157-584D-42E5-80B7-12186ACB0C84}" destId="{1C743F02-29DA-42E3-9531-0C6613205BB2}" srcOrd="1" destOrd="0" presId="urn:microsoft.com/office/officeart/2005/8/layout/bProcess3"/>
    <dgm:cxn modelId="{B43FE26B-A521-47C5-BDAF-D9C46F620FFC}" type="presOf" srcId="{E76865DD-8151-4A85-B022-6142585F23FF}" destId="{B3191A34-7248-4374-98C2-B294632D5672}" srcOrd="0" destOrd="0" presId="urn:microsoft.com/office/officeart/2005/8/layout/bProcess3"/>
    <dgm:cxn modelId="{C1172258-FA51-4D21-BCF6-42682472E4DC}" type="presOf" srcId="{177FDFD9-3CE4-4CAA-8B1C-653996184178}" destId="{396724BD-52A1-4735-B4E1-F72CC0A1242E}" srcOrd="1" destOrd="0" presId="urn:microsoft.com/office/officeart/2005/8/layout/bProcess3"/>
    <dgm:cxn modelId="{D7DD3694-2C30-493A-B3D7-D1F366943908}" type="presOf" srcId="{177FDFD9-3CE4-4CAA-8B1C-653996184178}" destId="{B3960410-3F6B-417E-8445-5E2058A38C1F}" srcOrd="0" destOrd="0" presId="urn:microsoft.com/office/officeart/2005/8/layout/bProcess3"/>
    <dgm:cxn modelId="{5D4157A0-8FE9-40F8-92D3-DEEB582827AE}" type="presOf" srcId="{94D94157-584D-42E5-80B7-12186ACB0C84}" destId="{8CE34555-6524-4A49-AF40-7824779A8A85}" srcOrd="0" destOrd="0" presId="urn:microsoft.com/office/officeart/2005/8/layout/bProcess3"/>
    <dgm:cxn modelId="{7FBC96A9-13C9-48F6-89D9-CC2FE3C75290}" srcId="{F3B2A3F0-C7B9-4DF4-9909-C09D82065EAC}" destId="{30CF7BD4-DC5A-45F0-BDC4-FCD0F86F384D}" srcOrd="3" destOrd="0" parTransId="{4F7CCC1E-A614-441D-AF3D-5565A964E900}" sibTransId="{E76865DD-8151-4A85-B022-6142585F23FF}"/>
    <dgm:cxn modelId="{75D124AA-E497-402D-80C7-C867D3FFE7D8}" type="presOf" srcId="{BA8CF8B8-C61D-43CB-B348-5A63FE260A4A}" destId="{B14B32AF-636D-4AB0-AAF3-75EEC936258B}" srcOrd="0" destOrd="0" presId="urn:microsoft.com/office/officeart/2005/8/layout/bProcess3"/>
    <dgm:cxn modelId="{23E20EAD-D9E4-449B-9EA4-6427EA3BE176}" srcId="{F3B2A3F0-C7B9-4DF4-9909-C09D82065EAC}" destId="{7E213AE7-2EA3-474D-9958-483314C0B049}" srcOrd="1" destOrd="0" parTransId="{A1C0DEBC-EC05-4E0E-A186-5FC44E0C2EB8}" sibTransId="{94D94157-584D-42E5-80B7-12186ACB0C84}"/>
    <dgm:cxn modelId="{617596D3-EBB2-472A-8DAC-713E24A8C475}" type="presOf" srcId="{E76865DD-8151-4A85-B022-6142585F23FF}" destId="{027D6706-2392-4094-9C39-481609B6F05A}" srcOrd="1" destOrd="0" presId="urn:microsoft.com/office/officeart/2005/8/layout/bProcess3"/>
    <dgm:cxn modelId="{62429BD3-DB6E-4410-8329-ADD7BC6D4803}" type="presOf" srcId="{37989CD3-19D7-4597-911F-4AE61E660529}" destId="{C5EA2909-A3EF-46A8-B184-091A8BD4D358}" srcOrd="1" destOrd="0" presId="urn:microsoft.com/office/officeart/2005/8/layout/bProcess3"/>
    <dgm:cxn modelId="{23F0B7E0-4F23-43E5-9274-0FD24716DBB2}" type="presOf" srcId="{30CF7BD4-DC5A-45F0-BDC4-FCD0F86F384D}" destId="{ECF592D8-C974-4FDA-AC28-4505B9DE03D6}" srcOrd="0" destOrd="0" presId="urn:microsoft.com/office/officeart/2005/8/layout/bProcess3"/>
    <dgm:cxn modelId="{2BF2A6E1-CBC2-4663-BCBD-C8194C6FF5E3}" srcId="{F3B2A3F0-C7B9-4DF4-9909-C09D82065EAC}" destId="{00C1C1A8-EE48-4E77-B45F-58EC59694812}" srcOrd="0" destOrd="0" parTransId="{9C4839D6-1617-41CC-851E-709ED3BFDC36}" sibTransId="{177FDFD9-3CE4-4CAA-8B1C-653996184178}"/>
    <dgm:cxn modelId="{5CF43FF9-1B41-47E0-A82A-D5B0B82AAA5B}" type="presOf" srcId="{F3B2A3F0-C7B9-4DF4-9909-C09D82065EAC}" destId="{B72911AD-F257-4DB0-A76C-6398E3368F22}" srcOrd="0" destOrd="0" presId="urn:microsoft.com/office/officeart/2005/8/layout/bProcess3"/>
    <dgm:cxn modelId="{FBFF52D8-F556-49E0-A812-5EE2806C1AEE}" type="presParOf" srcId="{B72911AD-F257-4DB0-A76C-6398E3368F22}" destId="{40D31415-327C-4D78-A833-82AF1B088DE0}" srcOrd="0" destOrd="0" presId="urn:microsoft.com/office/officeart/2005/8/layout/bProcess3"/>
    <dgm:cxn modelId="{DBE80A99-8A87-4EDE-B191-9980BBF08CF7}" type="presParOf" srcId="{B72911AD-F257-4DB0-A76C-6398E3368F22}" destId="{B3960410-3F6B-417E-8445-5E2058A38C1F}" srcOrd="1" destOrd="0" presId="urn:microsoft.com/office/officeart/2005/8/layout/bProcess3"/>
    <dgm:cxn modelId="{2F2FAD3F-2B2E-4230-AEC6-5F7CF821366E}" type="presParOf" srcId="{B3960410-3F6B-417E-8445-5E2058A38C1F}" destId="{396724BD-52A1-4735-B4E1-F72CC0A1242E}" srcOrd="0" destOrd="0" presId="urn:microsoft.com/office/officeart/2005/8/layout/bProcess3"/>
    <dgm:cxn modelId="{FD35B7D0-C734-4BCF-8589-991330991750}" type="presParOf" srcId="{B72911AD-F257-4DB0-A76C-6398E3368F22}" destId="{157222C9-F0F8-4A5C-9470-A1A0410289AE}" srcOrd="2" destOrd="0" presId="urn:microsoft.com/office/officeart/2005/8/layout/bProcess3"/>
    <dgm:cxn modelId="{44A0D690-5E1F-423A-BC10-8A696A6B1C5A}" type="presParOf" srcId="{B72911AD-F257-4DB0-A76C-6398E3368F22}" destId="{8CE34555-6524-4A49-AF40-7824779A8A85}" srcOrd="3" destOrd="0" presId="urn:microsoft.com/office/officeart/2005/8/layout/bProcess3"/>
    <dgm:cxn modelId="{D0215015-D9A5-407B-90A3-565C62087ED7}" type="presParOf" srcId="{8CE34555-6524-4A49-AF40-7824779A8A85}" destId="{1C743F02-29DA-42E3-9531-0C6613205BB2}" srcOrd="0" destOrd="0" presId="urn:microsoft.com/office/officeart/2005/8/layout/bProcess3"/>
    <dgm:cxn modelId="{D4D8577D-9A03-4B51-B412-9CA375DDCF45}" type="presParOf" srcId="{B72911AD-F257-4DB0-A76C-6398E3368F22}" destId="{CC8526B9-A18D-4965-955F-2E3D6E6ED3ED}" srcOrd="4" destOrd="0" presId="urn:microsoft.com/office/officeart/2005/8/layout/bProcess3"/>
    <dgm:cxn modelId="{EAA0C879-4EF6-4AE3-A987-87AF9F72E4F4}" type="presParOf" srcId="{B72911AD-F257-4DB0-A76C-6398E3368F22}" destId="{9E2E9DBE-891C-4EB4-AB31-FFB00357FB17}" srcOrd="5" destOrd="0" presId="urn:microsoft.com/office/officeart/2005/8/layout/bProcess3"/>
    <dgm:cxn modelId="{E233808A-EEC1-4058-BFAE-F5B87DE7B28D}" type="presParOf" srcId="{9E2E9DBE-891C-4EB4-AB31-FFB00357FB17}" destId="{C5EA2909-A3EF-46A8-B184-091A8BD4D358}" srcOrd="0" destOrd="0" presId="urn:microsoft.com/office/officeart/2005/8/layout/bProcess3"/>
    <dgm:cxn modelId="{3C669279-D2B2-4755-BC24-1FE6D96F741B}" type="presParOf" srcId="{B72911AD-F257-4DB0-A76C-6398E3368F22}" destId="{ECF592D8-C974-4FDA-AC28-4505B9DE03D6}" srcOrd="6" destOrd="0" presId="urn:microsoft.com/office/officeart/2005/8/layout/bProcess3"/>
    <dgm:cxn modelId="{61C786F4-F14A-47AE-AEFC-935FCEF9222A}" type="presParOf" srcId="{B72911AD-F257-4DB0-A76C-6398E3368F22}" destId="{B3191A34-7248-4374-98C2-B294632D5672}" srcOrd="7" destOrd="0" presId="urn:microsoft.com/office/officeart/2005/8/layout/bProcess3"/>
    <dgm:cxn modelId="{957D9C37-18B2-49D0-9CB0-0822EFBC32C4}" type="presParOf" srcId="{B3191A34-7248-4374-98C2-B294632D5672}" destId="{027D6706-2392-4094-9C39-481609B6F05A}" srcOrd="0" destOrd="0" presId="urn:microsoft.com/office/officeart/2005/8/layout/bProcess3"/>
    <dgm:cxn modelId="{002A8BA0-D75E-4FE8-A8B9-2E77B44D6BA1}" type="presParOf" srcId="{B72911AD-F257-4DB0-A76C-6398E3368F22}" destId="{B14B32AF-636D-4AB0-AAF3-75EEC936258B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60410-3F6B-417E-8445-5E2058A38C1F}">
      <dsp:nvSpPr>
        <dsp:cNvPr id="0" name=""/>
        <dsp:cNvSpPr/>
      </dsp:nvSpPr>
      <dsp:spPr>
        <a:xfrm>
          <a:off x="3132805" y="1543152"/>
          <a:ext cx="6884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84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59053" y="1585277"/>
        <a:ext cx="35952" cy="7190"/>
      </dsp:txXfrm>
    </dsp:sp>
    <dsp:sp modelId="{40D31415-327C-4D78-A833-82AF1B088DE0}">
      <dsp:nvSpPr>
        <dsp:cNvPr id="0" name=""/>
        <dsp:cNvSpPr/>
      </dsp:nvSpPr>
      <dsp:spPr>
        <a:xfrm>
          <a:off x="8305" y="650982"/>
          <a:ext cx="3126299" cy="1875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Text Normalization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Normalize the text by using punctuation and upper case to lower case conversion</a:t>
          </a:r>
        </a:p>
      </dsp:txBody>
      <dsp:txXfrm>
        <a:off x="8305" y="650982"/>
        <a:ext cx="3126299" cy="1875779"/>
      </dsp:txXfrm>
    </dsp:sp>
    <dsp:sp modelId="{8CE34555-6524-4A49-AF40-7824779A8A85}">
      <dsp:nvSpPr>
        <dsp:cNvPr id="0" name=""/>
        <dsp:cNvSpPr/>
      </dsp:nvSpPr>
      <dsp:spPr>
        <a:xfrm>
          <a:off x="6978153" y="1543152"/>
          <a:ext cx="6884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84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7304402" y="1585277"/>
        <a:ext cx="35952" cy="7190"/>
      </dsp:txXfrm>
    </dsp:sp>
    <dsp:sp modelId="{157222C9-F0F8-4A5C-9470-A1A0410289AE}">
      <dsp:nvSpPr>
        <dsp:cNvPr id="0" name=""/>
        <dsp:cNvSpPr/>
      </dsp:nvSpPr>
      <dsp:spPr>
        <a:xfrm>
          <a:off x="3853654" y="650982"/>
          <a:ext cx="3126299" cy="1875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Stop-word Removal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Remove words like “the”, “a” or “it” that add little to no semantic meaning to the text</a:t>
          </a:r>
        </a:p>
      </dsp:txBody>
      <dsp:txXfrm>
        <a:off x="3853654" y="650982"/>
        <a:ext cx="3126299" cy="1875779"/>
      </dsp:txXfrm>
    </dsp:sp>
    <dsp:sp modelId="{9E2E9DBE-891C-4EB4-AB31-FFB00357FB17}">
      <dsp:nvSpPr>
        <dsp:cNvPr id="0" name=""/>
        <dsp:cNvSpPr/>
      </dsp:nvSpPr>
      <dsp:spPr>
        <a:xfrm>
          <a:off x="1571455" y="2524962"/>
          <a:ext cx="7690697" cy="688448"/>
        </a:xfrm>
        <a:custGeom>
          <a:avLst/>
          <a:gdLst/>
          <a:ahLst/>
          <a:cxnLst/>
          <a:rect l="0" t="0" r="0" b="0"/>
          <a:pathLst>
            <a:path>
              <a:moveTo>
                <a:pt x="7690697" y="0"/>
              </a:moveTo>
              <a:lnTo>
                <a:pt x="7690697" y="361324"/>
              </a:lnTo>
              <a:lnTo>
                <a:pt x="0" y="361324"/>
              </a:lnTo>
              <a:lnTo>
                <a:pt x="0" y="68844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223698" y="2865591"/>
        <a:ext cx="386211" cy="7190"/>
      </dsp:txXfrm>
    </dsp:sp>
    <dsp:sp modelId="{CC8526B9-A18D-4965-955F-2E3D6E6ED3ED}">
      <dsp:nvSpPr>
        <dsp:cNvPr id="0" name=""/>
        <dsp:cNvSpPr/>
      </dsp:nvSpPr>
      <dsp:spPr>
        <a:xfrm>
          <a:off x="7699002" y="650982"/>
          <a:ext cx="3126299" cy="1875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N-gram extraction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Find multi-term phrases like “artificial intelligence” or “natural language processing”</a:t>
          </a:r>
        </a:p>
      </dsp:txBody>
      <dsp:txXfrm>
        <a:off x="7699002" y="650982"/>
        <a:ext cx="3126299" cy="1875779"/>
      </dsp:txXfrm>
    </dsp:sp>
    <dsp:sp modelId="{B3191A34-7248-4374-98C2-B294632D5672}">
      <dsp:nvSpPr>
        <dsp:cNvPr id="0" name=""/>
        <dsp:cNvSpPr/>
      </dsp:nvSpPr>
      <dsp:spPr>
        <a:xfrm>
          <a:off x="3132805" y="4137981"/>
          <a:ext cx="6884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84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459053" y="4180106"/>
        <a:ext cx="35952" cy="7190"/>
      </dsp:txXfrm>
    </dsp:sp>
    <dsp:sp modelId="{ECF592D8-C974-4FDA-AC28-4505B9DE03D6}">
      <dsp:nvSpPr>
        <dsp:cNvPr id="0" name=""/>
        <dsp:cNvSpPr/>
      </dsp:nvSpPr>
      <dsp:spPr>
        <a:xfrm>
          <a:off x="8305" y="3245811"/>
          <a:ext cx="3126299" cy="1875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Stemming and Lemmatization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Strip off ending characters from words like “s”, “</a:t>
          </a:r>
          <a:r>
            <a:rPr lang="en-IN" sz="1600" kern="1200" dirty="0" err="1"/>
            <a:t>ing</a:t>
          </a:r>
          <a:r>
            <a:rPr lang="en-IN" sz="1600" kern="1200" dirty="0"/>
            <a:t>”, “ed”. So now “powering”, “powered” and “powerful” all become “power”</a:t>
          </a:r>
        </a:p>
      </dsp:txBody>
      <dsp:txXfrm>
        <a:off x="8305" y="3245811"/>
        <a:ext cx="3126299" cy="1875779"/>
      </dsp:txXfrm>
    </dsp:sp>
    <dsp:sp modelId="{B14B32AF-636D-4AB0-AAF3-75EEC936258B}">
      <dsp:nvSpPr>
        <dsp:cNvPr id="0" name=""/>
        <dsp:cNvSpPr/>
      </dsp:nvSpPr>
      <dsp:spPr>
        <a:xfrm>
          <a:off x="3853654" y="3245811"/>
          <a:ext cx="3126299" cy="1875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Parts-of-Speech (POS) Tagging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Label each token with its grammatical category such as noun, adjective, verb or adverb</a:t>
          </a:r>
        </a:p>
      </dsp:txBody>
      <dsp:txXfrm>
        <a:off x="3853654" y="3245811"/>
        <a:ext cx="3126299" cy="1875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D2AF4-F562-4F7B-9C3C-0F84AFABFD4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5AED6-CDD0-4FEB-BAEE-10425DA09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30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52A9-9D42-7375-DFD5-B25FCD7AD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5A332-E1AF-1FEE-1E00-8D313CB21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C202-EC8C-D4A4-0BE6-7E659DD4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0900-1B17-14E2-400B-724FD4F7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8FC1-D988-B109-A570-680071B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3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718B-655E-54DE-2576-35D2BA0F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59F38-6590-D36B-DBA2-044E8E3E9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11ABB-67AD-AB20-4B00-1F7B34AB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2DCA-3929-493F-3189-057A9A1F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0952A-5763-F8AD-F266-F270AABD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43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A8A1-999F-5134-F58B-6AEE04C8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A6CBC-898E-7686-1796-56AD3D41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2584-89F1-5232-08AB-1A2BAD87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4D228-5DFB-19F6-509A-958866F9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1B8BE-A7A3-6AFA-6692-5B00E7D8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D852-5A51-D861-3740-CF369854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544F-61DA-9681-62F6-0AA371E83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F3B64-55F5-C39B-3491-C7796F5D2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6B956-0668-12C4-83AC-740200293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1D77C-B0C6-7DD0-EEBF-CAC9FD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8D000-56F5-D15D-A119-49EDFB3A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87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7BD5-395C-04D6-2769-93E40472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C3BF7-F8FC-76B9-1094-8879E1B18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FFFE3-5D98-24C6-0127-8138D5B62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47AD1-9417-4750-BFDF-97C1DDA7F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CE10D-CD2E-D0D9-46D5-FB80603AF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8047F0-8543-3B83-9CE8-AE62FE35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32D37-53D1-8E52-DC59-E67AC7E2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476B1-E01C-042B-0341-A9F16A8D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6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6BCD-FC9A-A5C9-76F7-6559368A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203D0-1123-FF7D-E87E-006F81EE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2F2A8-430D-DAB4-9474-A639F473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2A412-A5C1-096D-48E1-4420F4EE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21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BFCC4-1401-F1A7-D6DD-F5ED3725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A434A-E9C4-B066-1D22-8860B5FC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D01B-4B51-7F57-C532-A8C8D9AF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75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7886-9515-647C-9DBB-B8F2162A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A15B-2712-4B15-CE88-EDAAC2FA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32402-D4F4-E767-CB4B-8A04C69B6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A9757-850A-56F8-AB58-13C49C94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466BB-FFE2-D331-236C-F87F7A36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293A5-2E40-9D41-0FD7-C166293E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52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0D88-21CF-BE26-AFCF-350072C6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2BCDF-C05A-9E34-A908-87623585B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EAED3-0C25-BE96-0CAE-3A104B11A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2E5BB-F7E3-F85B-C22D-BDC94339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8972B-B811-F3ED-99FF-66238452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02B0C-4772-F618-F910-1307821B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18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D249-72FE-4619-9E74-28B029FF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639D7-F48C-458A-CBAB-A1EAAEF34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5548F-8137-2553-CCDE-51CF283C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011E-DCDB-8298-A142-4F4CA422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F7BCA-3C74-E09C-2167-3010040E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5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86563-1697-584C-152F-E892C9D91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BEC1C-1151-1ED4-ACAF-7C1E48884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7B0A5-BB1C-9EAC-4DD5-0F80E00E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EBB21-D156-26D7-0E1E-39E33C0A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AE109-24F1-ED36-D94B-6B6757F6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97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C867-51F6-3E25-5EDE-719785AC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76A39-33FF-6B8D-8FD6-54E0366D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E88F7-1B0A-7F5B-E4E3-A42233794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E143A-96E9-4801-9883-6B3363DA18D7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5558-0DDA-B00B-CEBC-56E715DF1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F52F-B1FA-F6FB-F500-CEE7FDA37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0A0B8-FE53-40C6-B309-E394A8B49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Understand Text Analysis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F961-7985-D032-0DF8-77C6951D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46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1: Tokenization</a:t>
            </a:r>
            <a:endParaRPr lang="en-IN" dirty="0"/>
          </a:p>
        </p:txBody>
      </p:sp>
      <p:pic>
        <p:nvPicPr>
          <p:cNvPr id="4" name="Picture 2" descr="Demystifying Tokens: A Beginners Guide To Understanding AI Building Blocks  | by The Ministry of AI | 𝐀𝐈 𝐦𝐨𝐧𝐤𝐬.𝐢𝐨 | Medium">
            <a:extLst>
              <a:ext uri="{FF2B5EF4-FFF2-40B4-BE49-F238E27FC236}">
                <a16:creationId xmlns:a16="http://schemas.microsoft.com/office/drawing/2014/main" id="{D09D6F1D-73EF-4FD7-EA6A-A7FAF3B06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199" y="1173763"/>
            <a:ext cx="6587599" cy="261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The Mystery of Tokens in GenAI. Have you ever heard of tokens in the… | by  Nitin Jain | Medium">
            <a:extLst>
              <a:ext uri="{FF2B5EF4-FFF2-40B4-BE49-F238E27FC236}">
                <a16:creationId xmlns:a16="http://schemas.microsoft.com/office/drawing/2014/main" id="{7149AC06-EEEA-B538-B28B-250D6A6A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083" y="4087769"/>
            <a:ext cx="6875829" cy="253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33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A9E3-9FBF-80CF-E830-B36531FD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984992" cy="1325563"/>
          </a:xfrm>
        </p:spPr>
        <p:txBody>
          <a:bodyPr/>
          <a:lstStyle/>
          <a:p>
            <a:pPr algn="ctr"/>
            <a:r>
              <a:rPr lang="en-US" dirty="0"/>
              <a:t>Step 2: Text Normalization and Pre-processing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13D608-4E81-600F-FA72-91F680E13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272905"/>
              </p:ext>
            </p:extLst>
          </p:nvPr>
        </p:nvGraphicFramePr>
        <p:xfrm>
          <a:off x="679196" y="820250"/>
          <a:ext cx="10833608" cy="5772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104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9E89-0B50-8F0B-4564-0F3B0D57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20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3: Statistical Text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ABBC9-4E09-0A7A-E64B-BFB168D76DA2}"/>
              </a:ext>
            </a:extLst>
          </p:cNvPr>
          <p:cNvSpPr txBox="1"/>
          <p:nvPr/>
        </p:nvSpPr>
        <p:spPr>
          <a:xfrm>
            <a:off x="2987040" y="1361504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/>
              <a:t>Statistical Algorithms</a:t>
            </a:r>
            <a:endParaRPr lang="en-IN" sz="32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B2D55-0268-2391-0DB3-092A55BD5C3A}"/>
              </a:ext>
            </a:extLst>
          </p:cNvPr>
          <p:cNvSpPr txBox="1"/>
          <p:nvPr/>
        </p:nvSpPr>
        <p:spPr>
          <a:xfrm>
            <a:off x="582168" y="3429000"/>
            <a:ext cx="2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Frequency Analysis</a:t>
            </a:r>
            <a:endParaRPr lang="en-IN" sz="2000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21A64-79A6-2A7D-D614-78438C609BEB}"/>
              </a:ext>
            </a:extLst>
          </p:cNvPr>
          <p:cNvSpPr txBox="1"/>
          <p:nvPr/>
        </p:nvSpPr>
        <p:spPr>
          <a:xfrm>
            <a:off x="274320" y="5204108"/>
            <a:ext cx="332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determining the main topic of discussion of a document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0D76B-7CF9-9E55-A4AD-E7DFD9406717}"/>
              </a:ext>
            </a:extLst>
          </p:cNvPr>
          <p:cNvSpPr txBox="1"/>
          <p:nvPr/>
        </p:nvSpPr>
        <p:spPr>
          <a:xfrm>
            <a:off x="3843528" y="3375138"/>
            <a:ext cx="2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TF-IDF</a:t>
            </a:r>
            <a:endParaRPr lang="en-IN" sz="20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AC333-F19C-D8CE-F913-BE39ECD51489}"/>
              </a:ext>
            </a:extLst>
          </p:cNvPr>
          <p:cNvSpPr txBox="1"/>
          <p:nvPr/>
        </p:nvSpPr>
        <p:spPr>
          <a:xfrm>
            <a:off x="3535680" y="5080996"/>
            <a:ext cx="3328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determining the most similar set of documents to the user query. Commonly used in search engines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BD07-4D1F-E5D4-EDE3-1427C6FE0B45}"/>
              </a:ext>
            </a:extLst>
          </p:cNvPr>
          <p:cNvSpPr txBox="1"/>
          <p:nvPr/>
        </p:nvSpPr>
        <p:spPr>
          <a:xfrm>
            <a:off x="6864096" y="3275112"/>
            <a:ext cx="2712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Bag-of-Words</a:t>
            </a:r>
          </a:p>
          <a:p>
            <a:pPr algn="ctr"/>
            <a:r>
              <a:rPr lang="en-US" sz="2000" b="1" i="1" dirty="0"/>
              <a:t>(BOW)</a:t>
            </a:r>
            <a:endParaRPr lang="en-IN" sz="20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3C359A-0E98-8D64-3DFE-A98D24F5653B}"/>
              </a:ext>
            </a:extLst>
          </p:cNvPr>
          <p:cNvSpPr txBox="1"/>
          <p:nvPr/>
        </p:nvSpPr>
        <p:spPr>
          <a:xfrm>
            <a:off x="7016496" y="5204106"/>
            <a:ext cx="240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sentiment analysis or spam classifiers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3BC03-1E6F-A7FA-278C-4050A6C43825}"/>
              </a:ext>
            </a:extLst>
          </p:cNvPr>
          <p:cNvSpPr txBox="1"/>
          <p:nvPr/>
        </p:nvSpPr>
        <p:spPr>
          <a:xfrm>
            <a:off x="9424416" y="3275112"/>
            <a:ext cx="2712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 err="1"/>
              <a:t>TextRank</a:t>
            </a:r>
            <a:endParaRPr lang="en-IN" sz="2000" b="1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D10AC6-7060-060F-0C84-3DF8130F1208}"/>
              </a:ext>
            </a:extLst>
          </p:cNvPr>
          <p:cNvSpPr txBox="1"/>
          <p:nvPr/>
        </p:nvSpPr>
        <p:spPr>
          <a:xfrm>
            <a:off x="9576816" y="5087082"/>
            <a:ext cx="240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document summarization</a:t>
            </a:r>
            <a:endParaRPr lang="en-IN" sz="1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EF2C25-E842-C477-171D-ECE2379E7B6A}"/>
              </a:ext>
            </a:extLst>
          </p:cNvPr>
          <p:cNvCxnSpPr>
            <a:stCxn id="4" idx="2"/>
          </p:cNvCxnSpPr>
          <p:nvPr/>
        </p:nvCxnSpPr>
        <p:spPr>
          <a:xfrm>
            <a:off x="6096000" y="1946279"/>
            <a:ext cx="0" cy="806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ED60A2-8242-FE7D-AAD3-44959F789710}"/>
              </a:ext>
            </a:extLst>
          </p:cNvPr>
          <p:cNvCxnSpPr>
            <a:cxnSpLocks/>
          </p:cNvCxnSpPr>
          <p:nvPr/>
        </p:nvCxnSpPr>
        <p:spPr>
          <a:xfrm flipH="1">
            <a:off x="1950720" y="2752344"/>
            <a:ext cx="4145280" cy="315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284AC9-5F28-7CA1-31D7-8B237F5897B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199888" y="2769273"/>
            <a:ext cx="0" cy="6058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609F1D-0BB1-F8E8-0861-4A1019B8A90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938528" y="2783917"/>
            <a:ext cx="0" cy="645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DF0BCD8-9A00-8F6D-977E-A12ABE763C74}"/>
              </a:ext>
            </a:extLst>
          </p:cNvPr>
          <p:cNvCxnSpPr>
            <a:cxnSpLocks/>
          </p:cNvCxnSpPr>
          <p:nvPr/>
        </p:nvCxnSpPr>
        <p:spPr>
          <a:xfrm flipV="1">
            <a:off x="6096000" y="2749939"/>
            <a:ext cx="4684775" cy="24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05B2DE-BB0F-1159-8090-37DD3E912BE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220456" y="2749939"/>
            <a:ext cx="0" cy="5251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E47580A-ABF3-E727-5A44-93C847AFB8F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780776" y="2760237"/>
            <a:ext cx="0" cy="514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rrow: Down 41">
            <a:extLst>
              <a:ext uri="{FF2B5EF4-FFF2-40B4-BE49-F238E27FC236}">
                <a16:creationId xmlns:a16="http://schemas.microsoft.com/office/drawing/2014/main" id="{84C1635B-3B6A-DCCE-D181-A43B51D8CDB6}"/>
              </a:ext>
            </a:extLst>
          </p:cNvPr>
          <p:cNvSpPr/>
          <p:nvPr/>
        </p:nvSpPr>
        <p:spPr>
          <a:xfrm>
            <a:off x="1758696" y="3906054"/>
            <a:ext cx="384048" cy="1221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C58450BD-2E5D-9BCB-464E-BF52B17775E4}"/>
              </a:ext>
            </a:extLst>
          </p:cNvPr>
          <p:cNvSpPr/>
          <p:nvPr/>
        </p:nvSpPr>
        <p:spPr>
          <a:xfrm>
            <a:off x="5007864" y="3829110"/>
            <a:ext cx="384048" cy="1221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6271D774-1508-2AA1-5A89-8DE18BE5A118}"/>
              </a:ext>
            </a:extLst>
          </p:cNvPr>
          <p:cNvSpPr/>
          <p:nvPr/>
        </p:nvSpPr>
        <p:spPr>
          <a:xfrm>
            <a:off x="8028432" y="3982998"/>
            <a:ext cx="384048" cy="1097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76F68FBC-83C7-EDC5-2E94-01C50C8FCDF5}"/>
              </a:ext>
            </a:extLst>
          </p:cNvPr>
          <p:cNvSpPr/>
          <p:nvPr/>
        </p:nvSpPr>
        <p:spPr>
          <a:xfrm>
            <a:off x="10588752" y="3768641"/>
            <a:ext cx="384048" cy="12211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94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C940-9AA4-AA15-212E-47106E0A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-92075"/>
            <a:ext cx="10034016" cy="1325563"/>
          </a:xfrm>
        </p:spPr>
        <p:txBody>
          <a:bodyPr/>
          <a:lstStyle/>
          <a:p>
            <a:pPr algn="ctr"/>
            <a:r>
              <a:rPr lang="en-US" dirty="0"/>
              <a:t>TF-IDF for Statistical Analysis</a:t>
            </a:r>
            <a:endParaRPr lang="en-IN" dirty="0"/>
          </a:p>
        </p:txBody>
      </p:sp>
      <p:pic>
        <p:nvPicPr>
          <p:cNvPr id="4" name="Picture 3" descr="A screenshot of a chart&#10;&#10;AI-generated content may be incorrect.">
            <a:extLst>
              <a:ext uri="{FF2B5EF4-FFF2-40B4-BE49-F238E27FC236}">
                <a16:creationId xmlns:a16="http://schemas.microsoft.com/office/drawing/2014/main" id="{B83E602B-75E6-2D94-DCD7-EB224650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14" y="1573717"/>
            <a:ext cx="4921321" cy="27682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2722F0-5F50-ACBE-6BF3-2F228C563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35" y="1573717"/>
            <a:ext cx="6640908" cy="2419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476BC5-1CC0-BB2F-A3BF-13A8C961B62E}"/>
              </a:ext>
            </a:extLst>
          </p:cNvPr>
          <p:cNvSpPr txBox="1"/>
          <p:nvPr/>
        </p:nvSpPr>
        <p:spPr>
          <a:xfrm>
            <a:off x="1155106" y="5849027"/>
            <a:ext cx="9881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A high TF-IDF score indicates that a word appears often in one document but rarely in others. A low score indicates that word is common in many documents</a:t>
            </a:r>
            <a:endParaRPr lang="en-IN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343D48-E184-74C7-C23B-1308063D1C04}"/>
              </a:ext>
            </a:extLst>
          </p:cNvPr>
          <p:cNvSpPr txBox="1"/>
          <p:nvPr/>
        </p:nvSpPr>
        <p:spPr>
          <a:xfrm>
            <a:off x="1078992" y="4569344"/>
            <a:ext cx="982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 Term Frequency - Inverse Document Frequency (TF-IDF) is a technique that calculates scores based on how often a word or term appears in one document compared to its more general frequency across the entire collection of documents.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35954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FD87-0554-F779-FD14-95C9272F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66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Bag-of-Words (BOW)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A541E4-88E1-AA74-A5F4-68BD91061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1611" y="893848"/>
            <a:ext cx="6508778" cy="43391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167B2E-586D-03D2-B986-6B4C33DD36ED}"/>
              </a:ext>
            </a:extLst>
          </p:cNvPr>
          <p:cNvSpPr txBox="1"/>
          <p:nvPr/>
        </p:nvSpPr>
        <p:spPr>
          <a:xfrm>
            <a:off x="838200" y="5320995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Bag-of-words is the name given to a feature extraction technique that represents text tokens as a vector of word frequencies or occurrences, ignoring grammar and word order. </a:t>
            </a:r>
          </a:p>
          <a:p>
            <a:pPr algn="ctr"/>
            <a:endParaRPr lang="en-US" sz="1600" b="1" i="1" dirty="0"/>
          </a:p>
          <a:p>
            <a:pPr algn="ctr"/>
            <a:r>
              <a:rPr lang="en-US" sz="1600" b="1" i="1" dirty="0"/>
              <a:t>This representation becomes the input for machine learning algorithms like Naive Bayes, a probabilistic classifier that applies Bayes’ theorem to predict the probable class of a document based on word frequency.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193732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7EE7-8173-7B82-C73A-831CADB7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91473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TextRank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D0707D-7D5E-FB90-B343-245E6D3F1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584" y="958430"/>
            <a:ext cx="6908829" cy="46058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E2C208-1A3E-322F-3EFC-45F93BAA169B}"/>
              </a:ext>
            </a:extLst>
          </p:cNvPr>
          <p:cNvSpPr txBox="1"/>
          <p:nvPr/>
        </p:nvSpPr>
        <p:spPr>
          <a:xfrm>
            <a:off x="1214246" y="5628323"/>
            <a:ext cx="97635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 err="1"/>
              <a:t>TextRank</a:t>
            </a:r>
            <a:r>
              <a:rPr lang="en-US" sz="1600" b="1" i="1" dirty="0"/>
              <a:t> is an unsupervised graph-based algorithm that models text as a network of connected nodes. </a:t>
            </a:r>
          </a:p>
          <a:p>
            <a:pPr algn="ctr"/>
            <a:endParaRPr lang="en-US" sz="1600" b="1" i="1" dirty="0"/>
          </a:p>
          <a:p>
            <a:pPr algn="ctr"/>
            <a:r>
              <a:rPr lang="en-US" sz="1600" b="1" i="1" dirty="0"/>
              <a:t>For example, each sentence in a document could be considered a node, and the connections (edges) between them are scored based on the similarity of the words they contain. 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2512636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7B14-33EA-AF78-D5A1-01B6F460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Vectorization – Recent Advancement in NLP</a:t>
            </a:r>
            <a:endParaRPr lang="en-IN" dirty="0"/>
          </a:p>
        </p:txBody>
      </p:sp>
      <p:pic>
        <p:nvPicPr>
          <p:cNvPr id="4" name="Content Placeholder 3" descr="Diagram of a 3D visualization of word vectors.">
            <a:extLst>
              <a:ext uri="{FF2B5EF4-FFF2-40B4-BE49-F238E27FC236}">
                <a16:creationId xmlns:a16="http://schemas.microsoft.com/office/drawing/2014/main" id="{2C9F7592-FB02-7B9A-20F5-B75FD89BE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0222" y="1470804"/>
            <a:ext cx="5488097" cy="4463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7CD7C-EE28-B4ED-0657-0C0F4C89A0A5}"/>
              </a:ext>
            </a:extLst>
          </p:cNvPr>
          <p:cNvSpPr txBox="1"/>
          <p:nvPr/>
        </p:nvSpPr>
        <p:spPr>
          <a:xfrm>
            <a:off x="402336" y="1470804"/>
            <a:ext cx="52395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b="1" dirty="0"/>
              <a:t>Text Summarization </a:t>
            </a:r>
            <a:r>
              <a:rPr lang="en-US" dirty="0"/>
              <a:t>- Semantic embeddings enable </a:t>
            </a:r>
            <a:r>
              <a:rPr lang="en-US" i="1" dirty="0"/>
              <a:t>extractive</a:t>
            </a:r>
            <a:r>
              <a:rPr lang="en-US" dirty="0"/>
              <a:t> summarization by identifying sentences with vectors that are most representative of the overall document.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b="1" dirty="0"/>
              <a:t>Keyword Extraction </a:t>
            </a:r>
            <a:r>
              <a:rPr lang="en-US" dirty="0"/>
              <a:t>- Vector similarity can identify the most important terms in a document by comparing each word's embedding to the document's overall semantic representation. 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b="1" dirty="0"/>
              <a:t>Named Entity Recognition </a:t>
            </a:r>
            <a:r>
              <a:rPr lang="en-US" dirty="0"/>
              <a:t>- Semantic models can be fine-tuned to recognize named entities (people, organizations, locations, etc.) by learning vector representations that cluster similar entity types together.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63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460</Words>
  <Application>Microsoft Office PowerPoint</Application>
  <PresentationFormat>Widescreen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Understand Text Analysis</vt:lpstr>
      <vt:lpstr>Step 1: Tokenization</vt:lpstr>
      <vt:lpstr>Step 2: Text Normalization and Pre-processing</vt:lpstr>
      <vt:lpstr>Step 3: Statistical Text Analysis</vt:lpstr>
      <vt:lpstr>TF-IDF for Statistical Analysis</vt:lpstr>
      <vt:lpstr>Bag-of-Words (BOW)</vt:lpstr>
      <vt:lpstr>TextRank</vt:lpstr>
      <vt:lpstr>Vectorization – Recent Advancement in NLP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2026-05-07T07:55:10Z</dcterms:created>
  <dcterms:modified xsi:type="dcterms:W3CDTF">2026-05-07T08:37:46Z</dcterms:modified>
</cp:coreProperties>
</file>